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99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6400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54480"/>
            <a:ext cx="10515600" cy="457200"/>
          </a:xfrm>
          <a:prstGeom prst="rect">
            <a:avLst/>
          </a:prstGeom>
          <a:noFill/>
        </p:spPr>
        <p:txBody>
          <a:bodyPr wrap="square" lIns="50800" tIns="25400" rIns="50800" bIns="25400" anchor="t">
            <a:spAutoFit/>
          </a:bodyPr>
          <a:lstStyle/>
          <a:p>
            <a:pPr algn="l">
              <a:spcBef>
                <a:spcPts val="0"/>
              </a:spcBef>
              <a:spcAft>
                <a:spcPts val="400"/>
              </a:spcAft>
            </a:pPr>
            <a:r>
              <a:rPr sz="1600" b="1" i="0">
                <a:solidFill>
                  <a:srgbClr val="2DAA9E"/>
                </a:solidFill>
                <a:latin typeface="Calibri"/>
              </a:rPr>
              <a:t>ADAPTIVE VERIFIER GRAPHS (AVG)</a:t>
            </a:r>
          </a:p>
        </p:txBody>
      </p:sp>
      <p:sp>
        <p:nvSpPr>
          <p:cNvPr id="5" name="TextBox 4"/>
          <p:cNvSpPr txBox="1"/>
          <p:nvPr/>
        </p:nvSpPr>
        <p:spPr>
          <a:xfrm>
            <a:off x="822960" y="2057400"/>
            <a:ext cx="10515600" cy="1463040"/>
          </a:xfrm>
          <a:prstGeom prst="rect">
            <a:avLst/>
          </a:prstGeom>
          <a:noFill/>
        </p:spPr>
        <p:txBody>
          <a:bodyPr wrap="square" lIns="50800" tIns="25400" rIns="50800" bIns="25400" anchor="t">
            <a:spAutoFit/>
          </a:bodyPr>
          <a:lstStyle/>
          <a:p>
            <a:pPr algn="l">
              <a:spcBef>
                <a:spcPts val="0"/>
              </a:spcBef>
              <a:spcAft>
                <a:spcPts val="400"/>
              </a:spcAft>
            </a:pPr>
            <a:r>
              <a:rPr sz="4000" b="1" i="0">
                <a:solidFill>
                  <a:srgbClr val="FFFFFF"/>
                </a:solidFill>
                <a:latin typeface="Calibri"/>
              </a:rPr>
              <a:t>How do we </a:t>
            </a:r>
            <a:r>
              <a:rPr sz="4000" b="1" i="1">
                <a:solidFill>
                  <a:srgbClr val="2DAA9E"/>
                </a:solidFill>
                <a:latin typeface="Calibri"/>
              </a:rPr>
              <a:t>know</a:t>
            </a:r>
            <a:r>
              <a:rPr sz="4000" b="1" i="0">
                <a:solidFill>
                  <a:srgbClr val="FFFFFF"/>
                </a:solidFill>
                <a:latin typeface="Calibri"/>
              </a:rPr>
              <a:t> an AI agent</a:t>
            </a:r>
          </a:p>
          <a:p>
            <a:pPr algn="l">
              <a:spcBef>
                <a:spcPts val="0"/>
              </a:spcBef>
              <a:spcAft>
                <a:spcPts val="400"/>
              </a:spcAft>
            </a:pPr>
            <a:r>
              <a:rPr sz="4000" b="1" i="0">
                <a:solidFill>
                  <a:srgbClr val="FFFFFF"/>
                </a:solidFill>
                <a:latin typeface="Calibri"/>
              </a:rPr>
              <a:t>really did the job?</a:t>
            </a:r>
          </a:p>
        </p:txBody>
      </p:sp>
      <p:sp>
        <p:nvSpPr>
          <p:cNvPr id="6" name="TextBox 5"/>
          <p:cNvSpPr txBox="1"/>
          <p:nvPr/>
        </p:nvSpPr>
        <p:spPr>
          <a:xfrm>
            <a:off x="822960" y="4343400"/>
            <a:ext cx="10515600" cy="822960"/>
          </a:xfrm>
          <a:prstGeom prst="rect">
            <a:avLst/>
          </a:prstGeom>
          <a:noFill/>
        </p:spPr>
        <p:txBody>
          <a:bodyPr wrap="square" lIns="50800" tIns="25400" rIns="50800" bIns="25400" anchor="t">
            <a:spAutoFit/>
          </a:bodyPr>
          <a:lstStyle/>
          <a:p>
            <a:pPr algn="l">
              <a:spcBef>
                <a:spcPts val="0"/>
              </a:spcBef>
              <a:spcAft>
                <a:spcPts val="400"/>
              </a:spcAft>
            </a:pPr>
            <a:r>
              <a:rPr sz="1600" b="0" i="0">
                <a:solidFill>
                  <a:srgbClr val="E4E9F2"/>
                </a:solidFill>
                <a:latin typeface="Calibri"/>
              </a:rPr>
              <a:t>Experiment plan for the team — six experiments, in plain English,</a:t>
            </a:r>
          </a:p>
          <a:p>
            <a:pPr algn="l">
              <a:spcBef>
                <a:spcPts val="0"/>
              </a:spcBef>
              <a:spcAft>
                <a:spcPts val="400"/>
              </a:spcAft>
            </a:pPr>
            <a:r>
              <a:rPr sz="1600" b="0" i="0">
                <a:solidFill>
                  <a:srgbClr val="E4E9F2"/>
                </a:solidFill>
                <a:latin typeface="Calibri"/>
              </a:rPr>
              <a:t>each with the result we expect to see.</a:t>
            </a:r>
          </a:p>
        </p:txBody>
      </p:sp>
      <p:sp>
        <p:nvSpPr>
          <p:cNvPr id="7" name="TextBox 6"/>
          <p:cNvSpPr txBox="1"/>
          <p:nvPr/>
        </p:nvSpPr>
        <p:spPr>
          <a:xfrm>
            <a:off x="822960" y="5989320"/>
            <a:ext cx="10515600" cy="365760"/>
          </a:xfrm>
          <a:prstGeom prst="rect">
            <a:avLst/>
          </a:prstGeom>
          <a:noFill/>
        </p:spPr>
        <p:txBody>
          <a:bodyPr wrap="square" lIns="50800" tIns="25400" rIns="50800" bIns="25400" anchor="t">
            <a:spAutoFit/>
          </a:bodyPr>
          <a:lstStyle/>
          <a:p>
            <a:pPr algn="l">
              <a:spcBef>
                <a:spcPts val="0"/>
              </a:spcBef>
              <a:spcAft>
                <a:spcPts val="400"/>
              </a:spcAft>
            </a:pPr>
            <a:r>
              <a:rPr sz="1300" b="0" i="0">
                <a:solidFill>
                  <a:srgbClr val="5A6478"/>
                </a:solidFill>
                <a:latin typeface="Calibri"/>
              </a:rPr>
              <a:t>HTIR / AVG project   ·   Terminal-Bench trajectories   ·   offline replay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THE BIG IDEA</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One big judge  vs.  a graph of small checks</a:t>
            </a:r>
          </a:p>
        </p:txBody>
      </p:sp>
      <p:sp>
        <p:nvSpPr>
          <p:cNvPr id="6" name="Rectangle 5"/>
          <p:cNvSpPr/>
          <p:nvPr/>
        </p:nvSpPr>
        <p:spPr>
          <a:xfrm>
            <a:off x="548640" y="1417320"/>
            <a:ext cx="5394960" cy="21945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54480"/>
            <a:ext cx="4937760" cy="365760"/>
          </a:xfrm>
          <a:prstGeom prst="rect">
            <a:avLst/>
          </a:prstGeom>
          <a:noFill/>
        </p:spPr>
        <p:txBody>
          <a:bodyPr wrap="square" lIns="50800" tIns="25400" rIns="50800" bIns="25400" anchor="t">
            <a:spAutoFit/>
          </a:bodyPr>
          <a:lstStyle/>
          <a:p>
            <a:pPr algn="l">
              <a:spcBef>
                <a:spcPts val="0"/>
              </a:spcBef>
              <a:spcAft>
                <a:spcPts val="400"/>
              </a:spcAft>
            </a:pPr>
            <a:r>
              <a:rPr sz="1600" b="1" i="0">
                <a:solidFill>
                  <a:srgbClr val="1F2A44"/>
                </a:solidFill>
                <a:latin typeface="Calibri"/>
              </a:rPr>
              <a:t>The old way: one “monolithic” judge</a:t>
            </a:r>
          </a:p>
        </p:txBody>
      </p:sp>
      <p:sp>
        <p:nvSpPr>
          <p:cNvPr id="8" name="TextBox 7"/>
          <p:cNvSpPr txBox="1"/>
          <p:nvPr/>
        </p:nvSpPr>
        <p:spPr>
          <a:xfrm>
            <a:off x="777240" y="1984248"/>
            <a:ext cx="4937760" cy="1554480"/>
          </a:xfrm>
          <a:prstGeom prst="rect">
            <a:avLst/>
          </a:prstGeom>
          <a:noFill/>
        </p:spPr>
        <p:txBody>
          <a:bodyPr wrap="square" lIns="50800" tIns="25400" rIns="50800" bIns="25400" anchor="t">
            <a:spAutoFit/>
          </a:bodyPr>
          <a:lstStyle/>
          <a:p>
            <a:pPr algn="l">
              <a:spcBef>
                <a:spcPts val="0"/>
              </a:spcBef>
              <a:spcAft>
                <a:spcPts val="400"/>
              </a:spcAft>
            </a:pPr>
            <a:r>
              <a:rPr sz="1400" b="0" i="0">
                <a:solidFill>
                  <a:srgbClr val="141B2E"/>
                </a:solidFill>
                <a:latin typeface="Calibri"/>
              </a:rPr>
              <a:t>One model reads the whole trace and says </a:t>
            </a:r>
            <a:r>
              <a:rPr sz="1400" b="1" i="0">
                <a:solidFill>
                  <a:srgbClr val="C84B4B"/>
                </a:solidFill>
                <a:latin typeface="Calibri"/>
              </a:rPr>
              <a:t>“pass” or “fail.”</a:t>
            </a:r>
          </a:p>
          <a:p>
            <a:pPr algn="l">
              <a:spcBef>
                <a:spcPts val="0"/>
              </a:spcBef>
              <a:spcAft>
                <a:spcPts val="400"/>
              </a:spcAft>
            </a:pPr>
            <a:endParaRPr sz="1400" b="1" i="0">
              <a:solidFill>
                <a:srgbClr val="C84B4B"/>
              </a:solidFill>
              <a:latin typeface="Calibri"/>
            </a:endParaRPr>
          </a:p>
          <a:p>
            <a:pPr algn="l">
              <a:spcBef>
                <a:spcPts val="0"/>
              </a:spcBef>
              <a:spcAft>
                <a:spcPts val="400"/>
              </a:spcAft>
            </a:pPr>
            <a:r>
              <a:rPr sz="1400" b="0" i="0">
                <a:solidFill>
                  <a:srgbClr val="141B2E"/>
                </a:solidFill>
                <a:latin typeface="Calibri"/>
              </a:rPr>
              <a:t>Problem: it often gives credit with little or no evidence, and can't tell you </a:t>
            </a:r>
            <a:r>
              <a:rPr sz="1400" b="1" i="0">
                <a:solidFill>
                  <a:srgbClr val="141B2E"/>
                </a:solidFill>
                <a:latin typeface="Calibri"/>
              </a:rPr>
              <a:t>which part</a:t>
            </a:r>
            <a:r>
              <a:rPr sz="1400" b="0" i="0">
                <a:solidFill>
                  <a:srgbClr val="141B2E"/>
                </a:solidFill>
                <a:latin typeface="Calibri"/>
              </a:rPr>
              <a:t> went wrong.</a:t>
            </a:r>
          </a:p>
        </p:txBody>
      </p:sp>
      <p:sp>
        <p:nvSpPr>
          <p:cNvPr id="9" name="Rectangle 8"/>
          <p:cNvSpPr/>
          <p:nvPr/>
        </p:nvSpPr>
        <p:spPr>
          <a:xfrm>
            <a:off x="6263640" y="1417320"/>
            <a:ext cx="5394960" cy="2194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54480"/>
            <a:ext cx="4937760" cy="365760"/>
          </a:xfrm>
          <a:prstGeom prst="rect">
            <a:avLst/>
          </a:prstGeom>
          <a:noFill/>
        </p:spPr>
        <p:txBody>
          <a:bodyPr wrap="square" lIns="50800" tIns="25400" rIns="50800" bIns="25400" anchor="t">
            <a:spAutoFit/>
          </a:bodyPr>
          <a:lstStyle/>
          <a:p>
            <a:pPr algn="l">
              <a:spcBef>
                <a:spcPts val="0"/>
              </a:spcBef>
              <a:spcAft>
                <a:spcPts val="400"/>
              </a:spcAft>
            </a:pPr>
            <a:r>
              <a:rPr sz="1600" b="1" i="0">
                <a:solidFill>
                  <a:srgbClr val="2DAA9E"/>
                </a:solidFill>
                <a:latin typeface="Calibri"/>
              </a:rPr>
              <a:t>AVG: a graph of obligations</a:t>
            </a:r>
          </a:p>
        </p:txBody>
      </p:sp>
      <p:sp>
        <p:nvSpPr>
          <p:cNvPr id="11" name="TextBox 10"/>
          <p:cNvSpPr txBox="1"/>
          <p:nvPr/>
        </p:nvSpPr>
        <p:spPr>
          <a:xfrm>
            <a:off x="6492240" y="1984248"/>
            <a:ext cx="4937760" cy="1554480"/>
          </a:xfrm>
          <a:prstGeom prst="rect">
            <a:avLst/>
          </a:prstGeom>
          <a:noFill/>
        </p:spPr>
        <p:txBody>
          <a:bodyPr wrap="square" lIns="50800" tIns="25400" rIns="50800" bIns="25400" anchor="t">
            <a:spAutoFit/>
          </a:bodyPr>
          <a:lstStyle/>
          <a:p>
            <a:pPr algn="l">
              <a:spcBef>
                <a:spcPts val="0"/>
              </a:spcBef>
              <a:spcAft>
                <a:spcPts val="400"/>
              </a:spcAft>
            </a:pPr>
            <a:r>
              <a:rPr sz="1400" b="0" i="0">
                <a:solidFill>
                  <a:srgbClr val="FFFFFF"/>
                </a:solidFill>
                <a:latin typeface="Calibri"/>
              </a:rPr>
              <a:t>Break the task into small </a:t>
            </a:r>
            <a:r>
              <a:rPr sz="1400" b="1" i="0">
                <a:solidFill>
                  <a:srgbClr val="2DAA9E"/>
                </a:solidFill>
                <a:latin typeface="Calibri"/>
              </a:rPr>
              <a:t>obligations</a:t>
            </a:r>
            <a:r>
              <a:rPr sz="1400" b="0" i="0">
                <a:solidFill>
                  <a:srgbClr val="FFFFFF"/>
                </a:solidFill>
                <a:latin typeface="Calibri"/>
              </a:rPr>
              <a:t> (things that must be true). Check each against </a:t>
            </a:r>
            <a:r>
              <a:rPr sz="1400" b="1" i="0">
                <a:solidFill>
                  <a:srgbClr val="2DAA9E"/>
                </a:solidFill>
                <a:latin typeface="Calibri"/>
              </a:rPr>
              <a:t>evidence.</a:t>
            </a:r>
          </a:p>
          <a:p>
            <a:pPr algn="l">
              <a:spcBef>
                <a:spcPts val="0"/>
              </a:spcBef>
              <a:spcAft>
                <a:spcPts val="400"/>
              </a:spcAft>
            </a:pPr>
            <a:endParaRPr sz="1400" b="1" i="0">
              <a:solidFill>
                <a:srgbClr val="2DAA9E"/>
              </a:solidFill>
              <a:latin typeface="Calibri"/>
            </a:endParaRPr>
          </a:p>
          <a:p>
            <a:pPr algn="l">
              <a:spcBef>
                <a:spcPts val="0"/>
              </a:spcBef>
              <a:spcAft>
                <a:spcPts val="400"/>
              </a:spcAft>
            </a:pPr>
            <a:r>
              <a:rPr sz="1400" b="0" i="0">
                <a:solidFill>
                  <a:srgbClr val="FFFFFF"/>
                </a:solidFill>
                <a:latin typeface="Calibri"/>
              </a:rPr>
              <a:t>Each check answers: </a:t>
            </a:r>
            <a:r>
              <a:rPr sz="1400" b="1" i="0">
                <a:solidFill>
                  <a:srgbClr val="2DAA9E"/>
                </a:solidFill>
                <a:latin typeface="Calibri"/>
              </a:rPr>
              <a:t>pass · fail · “not sure” (abstain)</a:t>
            </a:r>
            <a:r>
              <a:rPr sz="1400" b="0" i="0">
                <a:solidFill>
                  <a:srgbClr val="FFFFFF"/>
                </a:solidFill>
                <a:latin typeface="Calibri"/>
              </a:rPr>
              <a:t>  — so no unearned credit.</a:t>
            </a:r>
          </a:p>
        </p:txBody>
      </p:sp>
      <p:sp>
        <p:nvSpPr>
          <p:cNvPr id="12" name="TextBox 11"/>
          <p:cNvSpPr txBox="1"/>
          <p:nvPr/>
        </p:nvSpPr>
        <p:spPr>
          <a:xfrm>
            <a:off x="548640" y="3977639"/>
            <a:ext cx="109728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The experiments answer four questions:</a:t>
            </a:r>
          </a:p>
        </p:txBody>
      </p:sp>
      <p:sp>
        <p:nvSpPr>
          <p:cNvPr id="13" name="Rectangle 12"/>
          <p:cNvSpPr/>
          <p:nvPr/>
        </p:nvSpPr>
        <p:spPr>
          <a:xfrm>
            <a:off x="548640" y="4389119"/>
            <a:ext cx="2743200" cy="1737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389119"/>
            <a:ext cx="2743200" cy="45720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407407"/>
            <a:ext cx="2743200" cy="420624"/>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Q1</a:t>
            </a:r>
          </a:p>
        </p:txBody>
      </p:sp>
      <p:sp>
        <p:nvSpPr>
          <p:cNvPr id="16" name="TextBox 15"/>
          <p:cNvSpPr txBox="1"/>
          <p:nvPr/>
        </p:nvSpPr>
        <p:spPr>
          <a:xfrm>
            <a:off x="713232" y="4937759"/>
            <a:ext cx="2414016" cy="1143000"/>
          </a:xfrm>
          <a:prstGeom prst="rect">
            <a:avLst/>
          </a:prstGeom>
          <a:noFill/>
        </p:spPr>
        <p:txBody>
          <a:bodyPr wrap="square" lIns="50800" tIns="25400" rIns="50800" bIns="25400" anchor="t">
            <a:spAutoFit/>
          </a:bodyPr>
          <a:lstStyle/>
          <a:p>
            <a:pPr algn="l">
              <a:spcBef>
                <a:spcPts val="0"/>
              </a:spcBef>
              <a:spcAft>
                <a:spcPts val="400"/>
              </a:spcAft>
            </a:pPr>
            <a:r>
              <a:rPr sz="1300" b="0" i="0">
                <a:solidFill>
                  <a:srgbClr val="141B2E"/>
                </a:solidFill>
                <a:latin typeface="Calibri"/>
              </a:rPr>
              <a:t>Is the graph of small checks better than one big judge?</a:t>
            </a:r>
          </a:p>
        </p:txBody>
      </p:sp>
      <p:sp>
        <p:nvSpPr>
          <p:cNvPr id="17" name="Rectangle 16"/>
          <p:cNvSpPr/>
          <p:nvPr/>
        </p:nvSpPr>
        <p:spPr>
          <a:xfrm>
            <a:off x="3364992" y="4389119"/>
            <a:ext cx="2743200" cy="1737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64992" y="4389119"/>
            <a:ext cx="2743200" cy="45720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64992" y="4407407"/>
            <a:ext cx="2743200" cy="420624"/>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Q2</a:t>
            </a:r>
          </a:p>
        </p:txBody>
      </p:sp>
      <p:sp>
        <p:nvSpPr>
          <p:cNvPr id="20" name="TextBox 19"/>
          <p:cNvSpPr txBox="1"/>
          <p:nvPr/>
        </p:nvSpPr>
        <p:spPr>
          <a:xfrm>
            <a:off x="3529584" y="4937759"/>
            <a:ext cx="2414016" cy="1143000"/>
          </a:xfrm>
          <a:prstGeom prst="rect">
            <a:avLst/>
          </a:prstGeom>
          <a:noFill/>
        </p:spPr>
        <p:txBody>
          <a:bodyPr wrap="square" lIns="50800" tIns="25400" rIns="50800" bIns="25400" anchor="t">
            <a:spAutoFit/>
          </a:bodyPr>
          <a:lstStyle/>
          <a:p>
            <a:pPr algn="l">
              <a:spcBef>
                <a:spcPts val="0"/>
              </a:spcBef>
              <a:spcAft>
                <a:spcPts val="400"/>
              </a:spcAft>
            </a:pPr>
            <a:r>
              <a:rPr sz="1300" b="0" i="0">
                <a:solidFill>
                  <a:srgbClr val="141B2E"/>
                </a:solidFill>
                <a:latin typeface="Calibri"/>
              </a:rPr>
              <a:t>Do domain add-ons help it adapt to a new kind of task?</a:t>
            </a:r>
          </a:p>
        </p:txBody>
      </p:sp>
      <p:sp>
        <p:nvSpPr>
          <p:cNvPr id="21" name="Rectangle 20"/>
          <p:cNvSpPr/>
          <p:nvPr/>
        </p:nvSpPr>
        <p:spPr>
          <a:xfrm>
            <a:off x="6181344" y="4389119"/>
            <a:ext cx="2743200" cy="1737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81344" y="4389119"/>
            <a:ext cx="2743200" cy="45720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81344" y="4407407"/>
            <a:ext cx="2743200" cy="420624"/>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Q3</a:t>
            </a:r>
          </a:p>
        </p:txBody>
      </p:sp>
      <p:sp>
        <p:nvSpPr>
          <p:cNvPr id="24" name="TextBox 23"/>
          <p:cNvSpPr txBox="1"/>
          <p:nvPr/>
        </p:nvSpPr>
        <p:spPr>
          <a:xfrm>
            <a:off x="6345936" y="4937759"/>
            <a:ext cx="2414016" cy="1143000"/>
          </a:xfrm>
          <a:prstGeom prst="rect">
            <a:avLst/>
          </a:prstGeom>
          <a:noFill/>
        </p:spPr>
        <p:txBody>
          <a:bodyPr wrap="square" lIns="50800" tIns="25400" rIns="50800" bIns="25400" anchor="t">
            <a:spAutoFit/>
          </a:bodyPr>
          <a:lstStyle/>
          <a:p>
            <a:pPr algn="l">
              <a:spcBef>
                <a:spcPts val="0"/>
              </a:spcBef>
              <a:spcAft>
                <a:spcPts val="400"/>
              </a:spcAft>
            </a:pPr>
            <a:r>
              <a:rPr sz="1300" b="0" i="0">
                <a:solidFill>
                  <a:srgbClr val="141B2E"/>
                </a:solidFill>
                <a:latin typeface="Calibri"/>
              </a:rPr>
              <a:t>Does letting it say “not sure” cut false alarms?</a:t>
            </a:r>
          </a:p>
        </p:txBody>
      </p:sp>
      <p:sp>
        <p:nvSpPr>
          <p:cNvPr id="25" name="Rectangle 24"/>
          <p:cNvSpPr/>
          <p:nvPr/>
        </p:nvSpPr>
        <p:spPr>
          <a:xfrm>
            <a:off x="8997696" y="4389119"/>
            <a:ext cx="2743200" cy="1737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997696" y="4389119"/>
            <a:ext cx="2743200" cy="45720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97696" y="4407407"/>
            <a:ext cx="2743200" cy="420624"/>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Q4</a:t>
            </a:r>
          </a:p>
        </p:txBody>
      </p:sp>
      <p:sp>
        <p:nvSpPr>
          <p:cNvPr id="28" name="TextBox 27"/>
          <p:cNvSpPr txBox="1"/>
          <p:nvPr/>
        </p:nvSpPr>
        <p:spPr>
          <a:xfrm>
            <a:off x="9162288" y="4937759"/>
            <a:ext cx="2414016" cy="1143000"/>
          </a:xfrm>
          <a:prstGeom prst="rect">
            <a:avLst/>
          </a:prstGeom>
          <a:noFill/>
        </p:spPr>
        <p:txBody>
          <a:bodyPr wrap="square" lIns="50800" tIns="25400" rIns="50800" bIns="25400" anchor="t">
            <a:spAutoFit/>
          </a:bodyPr>
          <a:lstStyle/>
          <a:p>
            <a:pPr algn="l">
              <a:spcBef>
                <a:spcPts val="0"/>
              </a:spcBef>
              <a:spcAft>
                <a:spcPts val="400"/>
              </a:spcAft>
            </a:pPr>
            <a:r>
              <a:rPr sz="1300" b="0" i="0">
                <a:solidFill>
                  <a:srgbClr val="141B2E"/>
                </a:solidFill>
                <a:latin typeface="Calibri"/>
              </a:rPr>
              <a:t>Can it catch mistakes early — and improve its own rules over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BEFORE ANY EXPERIMENT</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P0 — Get the foundation right</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P0</a:t>
            </a:r>
          </a:p>
        </p:txBody>
      </p:sp>
      <p:sp>
        <p:nvSpPr>
          <p:cNvPr id="8" name="Rectangle 7"/>
          <p:cNvSpPr/>
          <p:nvPr/>
        </p:nvSpPr>
        <p:spPr>
          <a:xfrm>
            <a:off x="548640" y="1371600"/>
            <a:ext cx="11064240" cy="10515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71600"/>
            <a:ext cx="82296" cy="105156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444752"/>
            <a:ext cx="107442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WHY THIS COMES FIRST</a:t>
            </a:r>
          </a:p>
        </p:txBody>
      </p:sp>
      <p:sp>
        <p:nvSpPr>
          <p:cNvPr id="11" name="TextBox 10"/>
          <p:cNvSpPr txBox="1"/>
          <p:nvPr/>
        </p:nvSpPr>
        <p:spPr>
          <a:xfrm>
            <a:off x="749808" y="1719072"/>
            <a:ext cx="10744200" cy="64008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None of the results that follow can be trusted until three basic things are in place. This part is plumbing rather than research, but everything else rests on it.</a:t>
            </a:r>
          </a:p>
        </p:txBody>
      </p:sp>
      <p:sp>
        <p:nvSpPr>
          <p:cNvPr id="12" name="TextBox 11"/>
          <p:cNvSpPr txBox="1"/>
          <p:nvPr/>
        </p:nvSpPr>
        <p:spPr>
          <a:xfrm>
            <a:off x="548640" y="2697480"/>
            <a:ext cx="11064240" cy="2103120"/>
          </a:xfrm>
          <a:prstGeom prst="rect">
            <a:avLst/>
          </a:prstGeom>
          <a:noFill/>
        </p:spPr>
        <p:txBody>
          <a:bodyPr wrap="square" lIns="50800" tIns="25400" rIns="50800" bIns="25400" anchor="t">
            <a:spAutoFit/>
          </a:bodyPr>
          <a:lstStyle/>
          <a:p>
            <a:pPr algn="l">
              <a:lnSpc>
                <a:spcPct val="105000"/>
              </a:lnSpc>
              <a:spcBef>
                <a:spcPts val="0"/>
              </a:spcBef>
              <a:spcAft>
                <a:spcPts val="1000"/>
              </a:spcAft>
            </a:pPr>
            <a:r>
              <a:rPr sz="1500" b="1" i="0">
                <a:solidFill>
                  <a:srgbClr val="2DAA9E"/>
                </a:solidFill>
                <a:latin typeface="Calibri"/>
              </a:rPr>
              <a:t>First,</a:t>
            </a:r>
            <a:r>
              <a:rPr sz="1500" b="0" i="0">
                <a:solidFill>
                  <a:srgbClr val="141B2E"/>
                </a:solidFill>
                <a:latin typeface="Calibri"/>
              </a:rPr>
              <a:t> we fix a bug that let the system call a run “valid” even when it had no supporting evidence at all. From now on, no evidence means “not sure” — it can never quietly become a pass.</a:t>
            </a:r>
          </a:p>
          <a:p>
            <a:pPr algn="l">
              <a:lnSpc>
                <a:spcPct val="105000"/>
              </a:lnSpc>
              <a:spcBef>
                <a:spcPts val="0"/>
              </a:spcBef>
              <a:spcAft>
                <a:spcPts val="1000"/>
              </a:spcAft>
            </a:pPr>
            <a:r>
              <a:rPr sz="1500" b="1" i="0">
                <a:solidFill>
                  <a:srgbClr val="2DAA9E"/>
                </a:solidFill>
                <a:latin typeface="Calibri"/>
              </a:rPr>
              <a:t>Second,</a:t>
            </a:r>
            <a:r>
              <a:rPr sz="1500" b="0" i="0">
                <a:solidFill>
                  <a:srgbClr val="141B2E"/>
                </a:solidFill>
                <a:latin typeface="Calibri"/>
              </a:rPr>
              <a:t> we build a reader that pulls real facts out of raw terminal output — which files changed, what exit codes came back — so that each check has something concrete to look at instead of guessing.</a:t>
            </a:r>
          </a:p>
          <a:p>
            <a:pPr algn="l">
              <a:lnSpc>
                <a:spcPct val="105000"/>
              </a:lnSpc>
              <a:spcBef>
                <a:spcPts val="0"/>
              </a:spcBef>
              <a:spcAft>
                <a:spcPts val="1000"/>
              </a:spcAft>
            </a:pPr>
            <a:r>
              <a:rPr sz="1500" b="1" i="0">
                <a:solidFill>
                  <a:srgbClr val="2DAA9E"/>
                </a:solidFill>
                <a:latin typeface="Calibri"/>
              </a:rPr>
              <a:t>Third,</a:t>
            </a:r>
            <a:r>
              <a:rPr sz="1500" b="0" i="0">
                <a:solidFill>
                  <a:srgbClr val="141B2E"/>
                </a:solidFill>
                <a:latin typeface="Calibri"/>
              </a:rPr>
              <a:t> we hand-label 100 traces to create a small set of known-correct answers. Without that ground truth we can’t honestly measure how accurate or how well-calibrated the system is.</a:t>
            </a:r>
          </a:p>
        </p:txBody>
      </p:sp>
      <p:sp>
        <p:nvSpPr>
          <p:cNvPr id="13" name="Rectangle 12"/>
          <p:cNvSpPr/>
          <p:nvPr/>
        </p:nvSpPr>
        <p:spPr>
          <a:xfrm>
            <a:off x="548640" y="5074920"/>
            <a:ext cx="11064240" cy="12344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074920"/>
            <a:ext cx="82296" cy="123444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193792"/>
            <a:ext cx="10607040" cy="365760"/>
          </a:xfrm>
          <a:prstGeom prst="rect">
            <a:avLst/>
          </a:prstGeom>
          <a:noFill/>
        </p:spPr>
        <p:txBody>
          <a:bodyPr wrap="square" lIns="50800" tIns="25400" rIns="50800" bIns="25400" anchor="t">
            <a:spAutoFit/>
          </a:bodyPr>
          <a:lstStyle/>
          <a:p>
            <a:pPr algn="l">
              <a:spcBef>
                <a:spcPts val="0"/>
              </a:spcBef>
              <a:spcAft>
                <a:spcPts val="400"/>
              </a:spcAft>
            </a:pPr>
            <a:r>
              <a:rPr sz="1400" b="1" i="0">
                <a:solidFill>
                  <a:srgbClr val="1F2A44"/>
                </a:solidFill>
                <a:latin typeface="Calibri"/>
              </a:rPr>
              <a:t>The dataset every experiment shares</a:t>
            </a:r>
          </a:p>
        </p:txBody>
      </p:sp>
      <p:sp>
        <p:nvSpPr>
          <p:cNvPr id="16" name="TextBox 15"/>
          <p:cNvSpPr txBox="1"/>
          <p:nvPr/>
        </p:nvSpPr>
        <p:spPr>
          <a:xfrm>
            <a:off x="777240" y="5559552"/>
            <a:ext cx="10607040" cy="731520"/>
          </a:xfrm>
          <a:prstGeom prst="rect">
            <a:avLst/>
          </a:prstGeom>
          <a:noFill/>
        </p:spPr>
        <p:txBody>
          <a:bodyPr wrap="square" lIns="50800" tIns="25400" rIns="50800" bIns="25400" anchor="t">
            <a:spAutoFit/>
          </a:bodyPr>
          <a:lstStyle/>
          <a:p>
            <a:pPr algn="l">
              <a:lnSpc>
                <a:spcPct val="105000"/>
              </a:lnSpc>
              <a:spcBef>
                <a:spcPts val="0"/>
              </a:spcBef>
              <a:spcAft>
                <a:spcPts val="400"/>
              </a:spcAft>
            </a:pPr>
            <a:r>
              <a:rPr sz="1400" b="0" i="0">
                <a:solidFill>
                  <a:srgbClr val="141B2E"/>
                </a:solidFill>
                <a:latin typeface="Calibri"/>
              </a:rPr>
              <a:t>All six experiments run on the same Terminal-Bench collection — </a:t>
            </a:r>
            <a:r>
              <a:rPr sz="1400" b="1" i="0">
                <a:solidFill>
                  <a:srgbClr val="2DAA9E"/>
                </a:solidFill>
                <a:latin typeface="Calibri"/>
              </a:rPr>
              <a:t>52,104 real agent runs</a:t>
            </a:r>
            <a:r>
              <a:rPr sz="1400" b="0" i="0">
                <a:solidFill>
                  <a:srgbClr val="141B2E"/>
                </a:solidFill>
                <a:latin typeface="Calibri"/>
              </a:rPr>
              <a:t> across 89 tasks, each already labelled as solved or not solved. We draw a balanced half-solved, half-unsolved sample, so a system that just guessed would score 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SA-1   ·   Question 1</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Graph of checks  vs.  one big judge</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1</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When we break the job of verification into a graph of small, evidence-backed checks, does it beat a single model that just reads the whole trace and declares pass or fail? We especially expect the difference to show up on long, multi-step tasks.</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We run four versions on the very same 3,000 traces. The full AVG pipeline checks every obligation in the graph. A “monolithic” baseline instead hands the whole trace to one model and takes its single verdict. Two more versions strip AVG down to just the mechanical checks (things like exit codes) and then just the meaning-based checks, so we can see what each half contributes on its own. Because the sample is an even solved/unsolved split, plain guessing would score 50%.</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grading an exam question-by-question against an answer key, instead of one glance and a thumbs-up.</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365760">
                <a:tc>
                  <a:txBody>
                    <a:bodyPr/>
                    <a:lstStyle/>
                    <a:p>
                      <a:pPr algn="l"/>
                      <a:r>
                        <a:rPr sz="1150" b="1">
                          <a:solidFill>
                            <a:srgbClr val="FFFFFF"/>
                          </a:solidFill>
                          <a:latin typeface="Calibri"/>
                        </a:rPr>
                        <a:t>Arm</a:t>
                      </a:r>
                    </a:p>
                  </a:txBody>
                  <a:tcPr marL="76200" marR="76200" marT="25400" marB="25400" anchor="ctr">
                    <a:solidFill>
                      <a:srgbClr val="1F2A44"/>
                    </a:solidFill>
                  </a:tcPr>
                </a:tc>
                <a:tc>
                  <a:txBody>
                    <a:bodyPr/>
                    <a:lstStyle/>
                    <a:p>
                      <a:pPr algn="ctr"/>
                      <a:r>
                        <a:rPr sz="1150" b="1">
                          <a:solidFill>
                            <a:srgbClr val="FFFFFF"/>
                          </a:solidFill>
                          <a:latin typeface="Calibri"/>
                        </a:rPr>
                        <a:t>False-valid ↓</a:t>
                      </a:r>
                    </a:p>
                  </a:txBody>
                  <a:tcPr marL="76200" marR="76200" marT="25400" marB="25400" anchor="ctr">
                    <a:solidFill>
                      <a:srgbClr val="1F2A44"/>
                    </a:solidFill>
                  </a:tcPr>
                </a:tc>
                <a:tc>
                  <a:txBody>
                    <a:bodyPr/>
                    <a:lstStyle/>
                    <a:p>
                      <a:pPr algn="ctr"/>
                      <a:r>
                        <a:rPr sz="1150" b="1">
                          <a:solidFill>
                            <a:srgbClr val="FFFFFF"/>
                          </a:solidFill>
                          <a:latin typeface="Calibri"/>
                        </a:rPr>
                        <a:t>Resolved acc ↑</a:t>
                      </a:r>
                    </a:p>
                  </a:txBody>
                  <a:tcPr marL="76200" marR="76200" marT="25400" marB="25400" anchor="ctr">
                    <a:solidFill>
                      <a:srgbClr val="1F2A44"/>
                    </a:solidFill>
                  </a:tcPr>
                </a:tc>
                <a:tc>
                  <a:txBody>
                    <a:bodyPr/>
                    <a:lstStyle/>
                    <a:p>
                      <a:pPr algn="ctr"/>
                      <a:r>
                        <a:rPr sz="1150" b="1">
                          <a:solidFill>
                            <a:srgbClr val="FFFFFF"/>
                          </a:solidFill>
                          <a:latin typeface="Calibri"/>
                        </a:rPr>
                        <a:t>Abstain</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AVG (graph)</a:t>
                      </a:r>
                    </a:p>
                  </a:txBody>
                  <a:tcPr marL="76200" marR="76200" marT="12700" marB="12700" anchor="ctr">
                    <a:solidFill>
                      <a:srgbClr val="FFFFFF"/>
                    </a:solidFill>
                  </a:tcPr>
                </a:tc>
                <a:tc>
                  <a:txBody>
                    <a:bodyPr/>
                    <a:lstStyle/>
                    <a:p>
                      <a:pPr algn="ctr"/>
                      <a:r>
                        <a:rPr sz="1150" b="1">
                          <a:solidFill>
                            <a:srgbClr val="E89B2E"/>
                          </a:solidFill>
                          <a:latin typeface="Calibri"/>
                        </a:rPr>
                        <a:t>0.08</a:t>
                      </a:r>
                    </a:p>
                  </a:txBody>
                  <a:tcPr marL="76200" marR="76200" marT="12700" marB="12700" anchor="ctr">
                    <a:solidFill>
                      <a:srgbClr val="FFFFFF"/>
                    </a:solidFill>
                  </a:tcPr>
                </a:tc>
                <a:tc>
                  <a:txBody>
                    <a:bodyPr/>
                    <a:lstStyle/>
                    <a:p>
                      <a:pPr algn="ctr"/>
                      <a:r>
                        <a:rPr sz="1150" b="0">
                          <a:solidFill>
                            <a:srgbClr val="141B2E"/>
                          </a:solidFill>
                          <a:latin typeface="Calibri"/>
                        </a:rPr>
                        <a:t>0.86</a:t>
                      </a:r>
                    </a:p>
                  </a:txBody>
                  <a:tcPr marL="76200" marR="76200" marT="12700" marB="12700" anchor="ctr">
                    <a:solidFill>
                      <a:srgbClr val="FFFFFF"/>
                    </a:solidFill>
                  </a:tcPr>
                </a:tc>
                <a:tc>
                  <a:txBody>
                    <a:bodyPr/>
                    <a:lstStyle/>
                    <a:p>
                      <a:pPr algn="ctr"/>
                      <a:r>
                        <a:rPr sz="1150" b="0">
                          <a:solidFill>
                            <a:srgbClr val="141B2E"/>
                          </a:solidFill>
                          <a:latin typeface="Calibri"/>
                        </a:rPr>
                        <a:t>0.18</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Monolith</a:t>
                      </a:r>
                    </a:p>
                  </a:txBody>
                  <a:tcPr marL="76200" marR="76200" marT="12700" marB="12700" anchor="ctr">
                    <a:solidFill>
                      <a:srgbClr val="E4E9F2"/>
                    </a:solidFill>
                  </a:tcPr>
                </a:tc>
                <a:tc>
                  <a:txBody>
                    <a:bodyPr/>
                    <a:lstStyle/>
                    <a:p>
                      <a:pPr algn="ctr"/>
                      <a:r>
                        <a:rPr sz="1150" b="1">
                          <a:solidFill>
                            <a:srgbClr val="E89B2E"/>
                          </a:solidFill>
                          <a:latin typeface="Calibri"/>
                        </a:rPr>
                        <a:t>0.35</a:t>
                      </a:r>
                    </a:p>
                  </a:txBody>
                  <a:tcPr marL="76200" marR="76200" marT="12700" marB="12700" anchor="ctr">
                    <a:solidFill>
                      <a:srgbClr val="E4E9F2"/>
                    </a:solidFill>
                  </a:tcPr>
                </a:tc>
                <a:tc>
                  <a:txBody>
                    <a:bodyPr/>
                    <a:lstStyle/>
                    <a:p>
                      <a:pPr algn="ctr"/>
                      <a:r>
                        <a:rPr sz="1150" b="0">
                          <a:solidFill>
                            <a:srgbClr val="141B2E"/>
                          </a:solidFill>
                          <a:latin typeface="Calibri"/>
                        </a:rPr>
                        <a:t>0.71</a:t>
                      </a:r>
                    </a:p>
                  </a:txBody>
                  <a:tcPr marL="76200" marR="76200" marT="12700" marB="12700" anchor="ctr">
                    <a:solidFill>
                      <a:srgbClr val="E4E9F2"/>
                    </a:solidFill>
                  </a:tcPr>
                </a:tc>
                <a:tc>
                  <a:txBody>
                    <a:bodyPr/>
                    <a:lstStyle/>
                    <a:p>
                      <a:pPr algn="ctr"/>
                      <a:r>
                        <a:rPr sz="1150" b="0">
                          <a:solidFill>
                            <a:srgbClr val="141B2E"/>
                          </a:solidFill>
                          <a:latin typeface="Calibri"/>
                        </a:rPr>
                        <a:t>0.00</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Exec-only</a:t>
                      </a:r>
                    </a:p>
                  </a:txBody>
                  <a:tcPr marL="76200" marR="76200" marT="12700" marB="12700" anchor="ctr">
                    <a:solidFill>
                      <a:srgbClr val="FFFFFF"/>
                    </a:solidFill>
                  </a:tcPr>
                </a:tc>
                <a:tc>
                  <a:txBody>
                    <a:bodyPr/>
                    <a:lstStyle/>
                    <a:p>
                      <a:pPr algn="ctr"/>
                      <a:r>
                        <a:rPr sz="1150" b="1">
                          <a:solidFill>
                            <a:srgbClr val="E89B2E"/>
                          </a:solidFill>
                          <a:latin typeface="Calibri"/>
                        </a:rPr>
                        <a:t>0.15</a:t>
                      </a:r>
                    </a:p>
                  </a:txBody>
                  <a:tcPr marL="76200" marR="76200" marT="12700" marB="12700" anchor="ctr">
                    <a:solidFill>
                      <a:srgbClr val="FFFFFF"/>
                    </a:solidFill>
                  </a:tcPr>
                </a:tc>
                <a:tc>
                  <a:txBody>
                    <a:bodyPr/>
                    <a:lstStyle/>
                    <a:p>
                      <a:pPr algn="ctr"/>
                      <a:r>
                        <a:rPr sz="1150" b="0">
                          <a:solidFill>
                            <a:srgbClr val="141B2E"/>
                          </a:solidFill>
                          <a:latin typeface="Calibri"/>
                        </a:rPr>
                        <a:t>0.78</a:t>
                      </a:r>
                    </a:p>
                  </a:txBody>
                  <a:tcPr marL="76200" marR="76200" marT="12700" marB="12700" anchor="ctr">
                    <a:solidFill>
                      <a:srgbClr val="FFFFFF"/>
                    </a:solidFill>
                  </a:tcPr>
                </a:tc>
                <a:tc>
                  <a:txBody>
                    <a:bodyPr/>
                    <a:lstStyle/>
                    <a:p>
                      <a:pPr algn="ctr"/>
                      <a:r>
                        <a:rPr sz="1150" b="0">
                          <a:solidFill>
                            <a:srgbClr val="141B2E"/>
                          </a:solidFill>
                          <a:latin typeface="Calibri"/>
                        </a:rPr>
                        <a:t>0.05</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Exec-free</a:t>
                      </a:r>
                    </a:p>
                  </a:txBody>
                  <a:tcPr marL="76200" marR="76200" marT="12700" marB="12700" anchor="ctr">
                    <a:solidFill>
                      <a:srgbClr val="E4E9F2"/>
                    </a:solidFill>
                  </a:tcPr>
                </a:tc>
                <a:tc>
                  <a:txBody>
                    <a:bodyPr/>
                    <a:lstStyle/>
                    <a:p>
                      <a:pPr algn="ctr"/>
                      <a:r>
                        <a:rPr sz="1150" b="1">
                          <a:solidFill>
                            <a:srgbClr val="E89B2E"/>
                          </a:solidFill>
                          <a:latin typeface="Calibri"/>
                        </a:rPr>
                        <a:t>0.22</a:t>
                      </a:r>
                    </a:p>
                  </a:txBody>
                  <a:tcPr marL="76200" marR="76200" marT="12700" marB="12700" anchor="ctr">
                    <a:solidFill>
                      <a:srgbClr val="E4E9F2"/>
                    </a:solidFill>
                  </a:tcPr>
                </a:tc>
                <a:tc>
                  <a:txBody>
                    <a:bodyPr/>
                    <a:lstStyle/>
                    <a:p>
                      <a:pPr algn="ctr"/>
                      <a:r>
                        <a:rPr sz="1150" b="0">
                          <a:solidFill>
                            <a:srgbClr val="141B2E"/>
                          </a:solidFill>
                          <a:latin typeface="Calibri"/>
                        </a:rPr>
                        <a:t>0.74</a:t>
                      </a:r>
                    </a:p>
                  </a:txBody>
                  <a:tcPr marL="76200" marR="76200" marT="12700" marB="12700" anchor="ctr">
                    <a:solidFill>
                      <a:srgbClr val="E4E9F2"/>
                    </a:solidFill>
                  </a:tcPr>
                </a:tc>
                <a:tc>
                  <a:txBody>
                    <a:bodyPr/>
                    <a:lstStyle/>
                    <a:p>
                      <a:pPr algn="ctr"/>
                      <a:r>
                        <a:rPr sz="1150" b="0">
                          <a:solidFill>
                            <a:srgbClr val="141B2E"/>
                          </a:solidFill>
                          <a:latin typeface="Calibri"/>
                        </a:rPr>
                        <a:t>0.11</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AVG produces far fewer “false valids” (wrongly saying success) than the single judge, and the gap widens on long-horizon traces — evidence that factoring the check into a graph pays off.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SA-2   ·   Question 2</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Universal checks  vs.  domain add-ons</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2</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If we give the verifier a little domain-specific knowledge — the schemas, policies and tests a real team already has — can it get good at a new kind of task from just a few examples, without quietly getting worse everywhere else?</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We begin with only the general-purpose checks, then add a terminal-specific adapter, and finally a small bundle of domain knowledge. At each stage we vary how many pieces of domain knowledge the system is handed and watch how quickly its accuracy climbs. To make sure the add-ons aren’t secretly harmful, we also run an unrelated task and confirm its score stays flat.</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giving a new hire a one-page cheat-sheet for your team, so they get productive faster.</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65760">
                <a:tc>
                  <a:txBody>
                    <a:bodyPr/>
                    <a:lstStyle/>
                    <a:p>
                      <a:pPr algn="l"/>
                      <a:r>
                        <a:rPr sz="1150" b="1">
                          <a:solidFill>
                            <a:srgbClr val="FFFFFF"/>
                          </a:solidFill>
                          <a:latin typeface="Calibri"/>
                        </a:rPr>
                        <a:t># domain artifacts</a:t>
                      </a:r>
                    </a:p>
                  </a:txBody>
                  <a:tcPr marL="76200" marR="76200" marT="25400" marB="25400" anchor="ctr">
                    <a:solidFill>
                      <a:srgbClr val="1F2A44"/>
                    </a:solidFill>
                  </a:tcPr>
                </a:tc>
                <a:tc>
                  <a:txBody>
                    <a:bodyPr/>
                    <a:lstStyle/>
                    <a:p>
                      <a:pPr algn="ctr"/>
                      <a:r>
                        <a:rPr sz="1150" b="1">
                          <a:solidFill>
                            <a:srgbClr val="FFFFFF"/>
                          </a:solidFill>
                          <a:latin typeface="Calibri"/>
                        </a:rPr>
                        <a:t>Universal</a:t>
                      </a:r>
                    </a:p>
                  </a:txBody>
                  <a:tcPr marL="76200" marR="76200" marT="25400" marB="25400" anchor="ctr">
                    <a:solidFill>
                      <a:srgbClr val="1F2A44"/>
                    </a:solidFill>
                  </a:tcPr>
                </a:tc>
                <a:tc>
                  <a:txBody>
                    <a:bodyPr/>
                    <a:lstStyle/>
                    <a:p>
                      <a:pPr algn="ctr"/>
                      <a:r>
                        <a:rPr sz="1150" b="1">
                          <a:solidFill>
                            <a:srgbClr val="FFFFFF"/>
                          </a:solidFill>
                          <a:latin typeface="Calibri"/>
                        </a:rPr>
                        <a:t>+ Adapters</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0 (zero-shot)</a:t>
                      </a:r>
                    </a:p>
                  </a:txBody>
                  <a:tcPr marL="76200" marR="76200" marT="12700" marB="12700" anchor="ctr">
                    <a:solidFill>
                      <a:srgbClr val="FFFFFF"/>
                    </a:solidFill>
                  </a:tcPr>
                </a:tc>
                <a:tc>
                  <a:txBody>
                    <a:bodyPr/>
                    <a:lstStyle/>
                    <a:p>
                      <a:pPr algn="ctr"/>
                      <a:r>
                        <a:rPr sz="1150" b="0">
                          <a:solidFill>
                            <a:srgbClr val="141B2E"/>
                          </a:solidFill>
                          <a:latin typeface="Calibri"/>
                        </a:rPr>
                        <a:t>0.70</a:t>
                      </a:r>
                    </a:p>
                  </a:txBody>
                  <a:tcPr marL="76200" marR="76200" marT="12700" marB="12700" anchor="ctr">
                    <a:solidFill>
                      <a:srgbClr val="FFFFFF"/>
                    </a:solidFill>
                  </a:tcPr>
                </a:tc>
                <a:tc>
                  <a:txBody>
                    <a:bodyPr/>
                    <a:lstStyle/>
                    <a:p>
                      <a:pPr algn="ctr"/>
                      <a:r>
                        <a:rPr sz="1150" b="1">
                          <a:solidFill>
                            <a:srgbClr val="E89B2E"/>
                          </a:solidFill>
                          <a:latin typeface="Calibri"/>
                        </a:rPr>
                        <a:t>0.70</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10</a:t>
                      </a:r>
                    </a:p>
                  </a:txBody>
                  <a:tcPr marL="76200" marR="76200" marT="12700" marB="12700" anchor="ctr">
                    <a:solidFill>
                      <a:srgbClr val="E4E9F2"/>
                    </a:solidFill>
                  </a:tcPr>
                </a:tc>
                <a:tc>
                  <a:txBody>
                    <a:bodyPr/>
                    <a:lstStyle/>
                    <a:p>
                      <a:pPr algn="ctr"/>
                      <a:r>
                        <a:rPr sz="1150" b="0">
                          <a:solidFill>
                            <a:srgbClr val="141B2E"/>
                          </a:solidFill>
                          <a:latin typeface="Calibri"/>
                        </a:rPr>
                        <a:t>0.72</a:t>
                      </a:r>
                    </a:p>
                  </a:txBody>
                  <a:tcPr marL="76200" marR="76200" marT="12700" marB="12700" anchor="ctr">
                    <a:solidFill>
                      <a:srgbClr val="E4E9F2"/>
                    </a:solidFill>
                  </a:tcPr>
                </a:tc>
                <a:tc>
                  <a:txBody>
                    <a:bodyPr/>
                    <a:lstStyle/>
                    <a:p>
                      <a:pPr algn="ctr"/>
                      <a:r>
                        <a:rPr sz="1150" b="1">
                          <a:solidFill>
                            <a:srgbClr val="E89B2E"/>
                          </a:solidFill>
                          <a:latin typeface="Calibri"/>
                        </a:rPr>
                        <a:t>0.85</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50</a:t>
                      </a:r>
                    </a:p>
                  </a:txBody>
                  <a:tcPr marL="76200" marR="76200" marT="12700" marB="12700" anchor="ctr">
                    <a:solidFill>
                      <a:srgbClr val="FFFFFF"/>
                    </a:solidFill>
                  </a:tcPr>
                </a:tc>
                <a:tc>
                  <a:txBody>
                    <a:bodyPr/>
                    <a:lstStyle/>
                    <a:p>
                      <a:pPr algn="ctr"/>
                      <a:r>
                        <a:rPr sz="1150" b="0">
                          <a:solidFill>
                            <a:srgbClr val="141B2E"/>
                          </a:solidFill>
                          <a:latin typeface="Calibri"/>
                        </a:rPr>
                        <a:t>0.79</a:t>
                      </a:r>
                    </a:p>
                  </a:txBody>
                  <a:tcPr marL="76200" marR="76200" marT="12700" marB="12700" anchor="ctr">
                    <a:solidFill>
                      <a:srgbClr val="FFFFFF"/>
                    </a:solidFill>
                  </a:tcPr>
                </a:tc>
                <a:tc>
                  <a:txBody>
                    <a:bodyPr/>
                    <a:lstStyle/>
                    <a:p>
                      <a:pPr algn="ctr"/>
                      <a:r>
                        <a:rPr sz="1150" b="1">
                          <a:solidFill>
                            <a:srgbClr val="E89B2E"/>
                          </a:solidFill>
                          <a:latin typeface="Calibri"/>
                        </a:rPr>
                        <a:t>0.88</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Unrelated task</a:t>
                      </a:r>
                    </a:p>
                  </a:txBody>
                  <a:tcPr marL="76200" marR="76200" marT="12700" marB="12700" anchor="ctr">
                    <a:solidFill>
                      <a:srgbClr val="E4E9F2"/>
                    </a:solidFill>
                  </a:tcPr>
                </a:tc>
                <a:tc>
                  <a:txBody>
                    <a:bodyPr/>
                    <a:lstStyle/>
                    <a:p>
                      <a:pPr algn="ctr"/>
                      <a:r>
                        <a:rPr sz="1150" b="0">
                          <a:solidFill>
                            <a:srgbClr val="141B2E"/>
                          </a:solidFill>
                          <a:latin typeface="Calibri"/>
                        </a:rPr>
                        <a:t>0.81</a:t>
                      </a:r>
                    </a:p>
                  </a:txBody>
                  <a:tcPr marL="76200" marR="76200" marT="12700" marB="12700" anchor="ctr">
                    <a:solidFill>
                      <a:srgbClr val="E4E9F2"/>
                    </a:solidFill>
                  </a:tcPr>
                </a:tc>
                <a:tc>
                  <a:txBody>
                    <a:bodyPr/>
                    <a:lstStyle/>
                    <a:p>
                      <a:pPr algn="ctr"/>
                      <a:r>
                        <a:rPr sz="1150" b="1">
                          <a:solidFill>
                            <a:srgbClr val="E89B2E"/>
                          </a:solidFill>
                          <a:latin typeface="Calibri"/>
                        </a:rPr>
                        <a:t>0.80</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With adapters, accuracy climbs steeply with just a handful of domain artifacts (sample-efficient), while performance on unrelated tasks barely moves — so we gain adaptation without hurting transfer.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SA-3   ·   Question 3</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Letting the checker say “not sure”</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3</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When the evidence is thin, is it better to let a check say “I’m not sure” than to force it into a yes or no? We expect that honest hesitation to cut down on confident mistakes and point us to the cases a human should look at.</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We compare the normal system, which is allowed to abstain, against a version forced to commit to yes or no every single time. Using the 100 hand-labelled traces as the ground truth, we measure how well-calibrated each version is — in plain terms, whether a run it calls “90% likely correct” really is correct about 90% of the time.</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a doctor ordering one more test instead of guessing — fewer confident mistakes.</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65760">
                <a:tc>
                  <a:txBody>
                    <a:bodyPr/>
                    <a:lstStyle/>
                    <a:p>
                      <a:pPr algn="l"/>
                      <a:r>
                        <a:rPr sz="1150" b="1">
                          <a:solidFill>
                            <a:srgbClr val="FFFFFF"/>
                          </a:solidFill>
                          <a:latin typeface="Calibri"/>
                        </a:rPr>
                        <a:t>Metric</a:t>
                      </a:r>
                    </a:p>
                  </a:txBody>
                  <a:tcPr marL="76200" marR="76200" marT="25400" marB="25400" anchor="ctr">
                    <a:solidFill>
                      <a:srgbClr val="1F2A44"/>
                    </a:solidFill>
                  </a:tcPr>
                </a:tc>
                <a:tc>
                  <a:txBody>
                    <a:bodyPr/>
                    <a:lstStyle/>
                    <a:p>
                      <a:pPr algn="ctr"/>
                      <a:r>
                        <a:rPr sz="1150" b="1">
                          <a:solidFill>
                            <a:srgbClr val="FFFFFF"/>
                          </a:solidFill>
                          <a:latin typeface="Calibri"/>
                        </a:rPr>
                        <a:t>No-abstain</a:t>
                      </a:r>
                    </a:p>
                  </a:txBody>
                  <a:tcPr marL="76200" marR="76200" marT="25400" marB="25400" anchor="ctr">
                    <a:solidFill>
                      <a:srgbClr val="1F2A44"/>
                    </a:solidFill>
                  </a:tcPr>
                </a:tc>
                <a:tc>
                  <a:txBody>
                    <a:bodyPr/>
                    <a:lstStyle/>
                    <a:p>
                      <a:pPr algn="ctr"/>
                      <a:r>
                        <a:rPr sz="1150" b="1">
                          <a:solidFill>
                            <a:srgbClr val="FFFFFF"/>
                          </a:solidFill>
                          <a:latin typeface="Calibri"/>
                        </a:rPr>
                        <a:t>Abstention</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AUROC ↑</a:t>
                      </a:r>
                    </a:p>
                  </a:txBody>
                  <a:tcPr marL="76200" marR="76200" marT="12700" marB="12700" anchor="ctr">
                    <a:solidFill>
                      <a:srgbClr val="FFFFFF"/>
                    </a:solidFill>
                  </a:tcPr>
                </a:tc>
                <a:tc>
                  <a:txBody>
                    <a:bodyPr/>
                    <a:lstStyle/>
                    <a:p>
                      <a:pPr algn="ctr"/>
                      <a:r>
                        <a:rPr sz="1150" b="0">
                          <a:solidFill>
                            <a:srgbClr val="141B2E"/>
                          </a:solidFill>
                          <a:latin typeface="Calibri"/>
                        </a:rPr>
                        <a:t>0.68</a:t>
                      </a:r>
                    </a:p>
                  </a:txBody>
                  <a:tcPr marL="76200" marR="76200" marT="12700" marB="12700" anchor="ctr">
                    <a:solidFill>
                      <a:srgbClr val="FFFFFF"/>
                    </a:solidFill>
                  </a:tcPr>
                </a:tc>
                <a:tc>
                  <a:txBody>
                    <a:bodyPr/>
                    <a:lstStyle/>
                    <a:p>
                      <a:pPr algn="ctr"/>
                      <a:r>
                        <a:rPr sz="1150" b="1">
                          <a:solidFill>
                            <a:srgbClr val="E89B2E"/>
                          </a:solidFill>
                          <a:latin typeface="Calibri"/>
                        </a:rPr>
                        <a:t>0.82</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Calib. error (ECE) ↓</a:t>
                      </a:r>
                    </a:p>
                  </a:txBody>
                  <a:tcPr marL="76200" marR="76200" marT="12700" marB="12700" anchor="ctr">
                    <a:solidFill>
                      <a:srgbClr val="E4E9F2"/>
                    </a:solidFill>
                  </a:tcPr>
                </a:tc>
                <a:tc>
                  <a:txBody>
                    <a:bodyPr/>
                    <a:lstStyle/>
                    <a:p>
                      <a:pPr algn="ctr"/>
                      <a:r>
                        <a:rPr sz="1150" b="0">
                          <a:solidFill>
                            <a:srgbClr val="141B2E"/>
                          </a:solidFill>
                          <a:latin typeface="Calibri"/>
                        </a:rPr>
                        <a:t>0.14</a:t>
                      </a:r>
                    </a:p>
                  </a:txBody>
                  <a:tcPr marL="76200" marR="76200" marT="12700" marB="12700" anchor="ctr">
                    <a:solidFill>
                      <a:srgbClr val="E4E9F2"/>
                    </a:solidFill>
                  </a:tcPr>
                </a:tc>
                <a:tc>
                  <a:txBody>
                    <a:bodyPr/>
                    <a:lstStyle/>
                    <a:p>
                      <a:pPr algn="ctr"/>
                      <a:r>
                        <a:rPr sz="1150" b="1">
                          <a:solidFill>
                            <a:srgbClr val="E89B2E"/>
                          </a:solidFill>
                          <a:latin typeface="Calibri"/>
                        </a:rPr>
                        <a:t>0.05</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False-valid rate ↓</a:t>
                      </a:r>
                    </a:p>
                  </a:txBody>
                  <a:tcPr marL="76200" marR="76200" marT="12700" marB="12700" anchor="ctr">
                    <a:solidFill>
                      <a:srgbClr val="FFFFFF"/>
                    </a:solidFill>
                  </a:tcPr>
                </a:tc>
                <a:tc>
                  <a:txBody>
                    <a:bodyPr/>
                    <a:lstStyle/>
                    <a:p>
                      <a:pPr algn="ctr"/>
                      <a:r>
                        <a:rPr sz="1150" b="0">
                          <a:solidFill>
                            <a:srgbClr val="141B2E"/>
                          </a:solidFill>
                          <a:latin typeface="Calibri"/>
                        </a:rPr>
                        <a:t>0.30</a:t>
                      </a:r>
                    </a:p>
                  </a:txBody>
                  <a:tcPr marL="76200" marR="76200" marT="12700" marB="12700" anchor="ctr">
                    <a:solidFill>
                      <a:srgbClr val="FFFFFF"/>
                    </a:solidFill>
                  </a:tcPr>
                </a:tc>
                <a:tc>
                  <a:txBody>
                    <a:bodyPr/>
                    <a:lstStyle/>
                    <a:p>
                      <a:pPr algn="ctr"/>
                      <a:r>
                        <a:rPr sz="1150" b="1">
                          <a:solidFill>
                            <a:srgbClr val="E89B2E"/>
                          </a:solidFill>
                          <a:latin typeface="Calibri"/>
                        </a:rPr>
                        <a:t>0.12</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Precision @ budget ↑</a:t>
                      </a:r>
                    </a:p>
                  </a:txBody>
                  <a:tcPr marL="76200" marR="76200" marT="12700" marB="12700" anchor="ctr">
                    <a:solidFill>
                      <a:srgbClr val="E4E9F2"/>
                    </a:solidFill>
                  </a:tcPr>
                </a:tc>
                <a:tc>
                  <a:txBody>
                    <a:bodyPr/>
                    <a:lstStyle/>
                    <a:p>
                      <a:pPr algn="ctr"/>
                      <a:r>
                        <a:rPr sz="1150" b="0">
                          <a:solidFill>
                            <a:srgbClr val="141B2E"/>
                          </a:solidFill>
                          <a:latin typeface="Calibri"/>
                        </a:rPr>
                        <a:t>0.72</a:t>
                      </a:r>
                    </a:p>
                  </a:txBody>
                  <a:tcPr marL="76200" marR="76200" marT="12700" marB="12700" anchor="ctr">
                    <a:solidFill>
                      <a:srgbClr val="E4E9F2"/>
                    </a:solidFill>
                  </a:tcPr>
                </a:tc>
                <a:tc>
                  <a:txBody>
                    <a:bodyPr/>
                    <a:lstStyle/>
                    <a:p>
                      <a:pPr algn="ctr"/>
                      <a:r>
                        <a:rPr sz="1150" b="1">
                          <a:solidFill>
                            <a:srgbClr val="E89B2E"/>
                          </a:solidFill>
                          <a:latin typeface="Calibri"/>
                        </a:rPr>
                        <a:t>0.90</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Allowing “not sure” makes the verifier better-calibrated (its confidence matches reality) and roughly halves false valids — the abstained cases are exactly the ones worth a human look.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SA-4   ·   Question 4a</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Catching mistakes early (intervention)</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4a</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Instead of waiting until a run is over to judge it, can we watch the checks form as the agent works and raise a flag the moment things go wrong — saving all the wasted steps that would have followed?</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We replay each run one step at a time and watch the obligations take shape. For every run that ended in failure we ask a simple what-if: had we raised a flag at this step, would it have caught the problem before the wasted work began? Our anchor example is a run that repeated the same command 21 times — a flag at step 4 would have stopped it cold.</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a spell-checker underlining the word as you type, not after you hit send.</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365760">
                <a:tc>
                  <a:txBody>
                    <a:bodyPr/>
                    <a:lstStyle/>
                    <a:p>
                      <a:pPr algn="l"/>
                      <a:r>
                        <a:rPr sz="1150" b="1">
                          <a:solidFill>
                            <a:srgbClr val="FFFFFF"/>
                          </a:solidFill>
                          <a:latin typeface="Calibri"/>
                        </a:rPr>
                        <a:t>Metric</a:t>
                      </a:r>
                    </a:p>
                  </a:txBody>
                  <a:tcPr marL="76200" marR="76200" marT="25400" marB="25400" anchor="ctr">
                    <a:solidFill>
                      <a:srgbClr val="1F2A44"/>
                    </a:solidFill>
                  </a:tcPr>
                </a:tc>
                <a:tc>
                  <a:txBody>
                    <a:bodyPr/>
                    <a:lstStyle/>
                    <a:p>
                      <a:pPr algn="ctr"/>
                      <a:r>
                        <a:rPr sz="1150" b="1">
                          <a:solidFill>
                            <a:srgbClr val="FFFFFF"/>
                          </a:solidFill>
                          <a:latin typeface="Calibri"/>
                        </a:rPr>
                        <a:t>Expected</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Intervention precision</a:t>
                      </a:r>
                    </a:p>
                  </a:txBody>
                  <a:tcPr marL="76200" marR="76200" marT="12700" marB="12700" anchor="ctr">
                    <a:solidFill>
                      <a:srgbClr val="FFFFFF"/>
                    </a:solidFill>
                  </a:tcPr>
                </a:tc>
                <a:tc>
                  <a:txBody>
                    <a:bodyPr/>
                    <a:lstStyle/>
                    <a:p>
                      <a:pPr algn="ctr"/>
                      <a:r>
                        <a:rPr sz="1150" b="1">
                          <a:solidFill>
                            <a:srgbClr val="E89B2E"/>
                          </a:solidFill>
                          <a:latin typeface="Calibri"/>
                        </a:rPr>
                        <a:t>0.90</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Intervention recall</a:t>
                      </a:r>
                    </a:p>
                  </a:txBody>
                  <a:tcPr marL="76200" marR="76200" marT="12700" marB="12700" anchor="ctr">
                    <a:solidFill>
                      <a:srgbClr val="E4E9F2"/>
                    </a:solidFill>
                  </a:tcPr>
                </a:tc>
                <a:tc>
                  <a:txBody>
                    <a:bodyPr/>
                    <a:lstStyle/>
                    <a:p>
                      <a:pPr algn="ctr"/>
                      <a:r>
                        <a:rPr sz="1150" b="1">
                          <a:solidFill>
                            <a:srgbClr val="E89B2E"/>
                          </a:solidFill>
                          <a:latin typeface="Calibri"/>
                        </a:rPr>
                        <a:t>0.70</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Median steps saved</a:t>
                      </a:r>
                    </a:p>
                  </a:txBody>
                  <a:tcPr marL="76200" marR="76200" marT="12700" marB="12700" anchor="ctr">
                    <a:solidFill>
                      <a:srgbClr val="FFFFFF"/>
                    </a:solidFill>
                  </a:tcPr>
                </a:tc>
                <a:tc>
                  <a:txBody>
                    <a:bodyPr/>
                    <a:lstStyle/>
                    <a:p>
                      <a:pPr algn="ctr"/>
                      <a:r>
                        <a:rPr sz="1150" b="1">
                          <a:solidFill>
                            <a:srgbClr val="E89B2E"/>
                          </a:solidFill>
                          <a:latin typeface="Calibri"/>
                        </a:rPr>
                        <a:t>12</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Earliest catch (chess case)</a:t>
                      </a:r>
                    </a:p>
                  </a:txBody>
                  <a:tcPr marL="76200" marR="76200" marT="12700" marB="12700" anchor="ctr">
                    <a:solidFill>
                      <a:srgbClr val="E4E9F2"/>
                    </a:solidFill>
                  </a:tcPr>
                </a:tc>
                <a:tc>
                  <a:txBody>
                    <a:bodyPr/>
                    <a:lstStyle/>
                    <a:p>
                      <a:pPr algn="ctr"/>
                      <a:r>
                        <a:rPr sz="1150" b="1">
                          <a:solidFill>
                            <a:srgbClr val="E89B2E"/>
                          </a:solidFill>
                          <a:latin typeface="Calibri"/>
                        </a:rPr>
                        <a:t>step 4 of 25</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Most doomed runs show a broken obligation well before they end, so a monitor can flag them early with high precision — turning wasted compute into an early warning.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SA-5   ·   Question 4b</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The system improves its own rules</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4b</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Can the verifier learn from its own past mistakes — noticing the failures that keep coming back and writing new checking rules to catch them — and so improve over time without anyone retraining the underlying AI model?</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The system reviews its own history, looks for the same kind of failure happening again and again, and proposes a new rule to catch it. If that rule improves the score without breaking anything, it’s kept. We run this loop for three rounds, always testing on traces the system hasn’t seen, and we keep an eye out for improvements that come at the expense of unrelated tasks.</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a checklist that gets smarter every time something slips through it.</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65760">
                <a:tc>
                  <a:txBody>
                    <a:bodyPr/>
                    <a:lstStyle/>
                    <a:p>
                      <a:pPr algn="l"/>
                      <a:r>
                        <a:rPr sz="1150" b="1">
                          <a:solidFill>
                            <a:srgbClr val="FFFFFF"/>
                          </a:solidFill>
                          <a:latin typeface="Calibri"/>
                        </a:rPr>
                        <a:t>Round</a:t>
                      </a:r>
                    </a:p>
                  </a:txBody>
                  <a:tcPr marL="76200" marR="76200" marT="25400" marB="25400" anchor="ctr">
                    <a:solidFill>
                      <a:srgbClr val="1F2A44"/>
                    </a:solidFill>
                  </a:tcPr>
                </a:tc>
                <a:tc>
                  <a:txBody>
                    <a:bodyPr/>
                    <a:lstStyle/>
                    <a:p>
                      <a:pPr algn="ctr"/>
                      <a:r>
                        <a:rPr sz="1150" b="1">
                          <a:solidFill>
                            <a:srgbClr val="FFFFFF"/>
                          </a:solidFill>
                          <a:latin typeface="Calibri"/>
                        </a:rPr>
                        <a:t>Score Ĵ ↑</a:t>
                      </a:r>
                    </a:p>
                  </a:txBody>
                  <a:tcPr marL="76200" marR="76200" marT="25400" marB="25400" anchor="ctr">
                    <a:solidFill>
                      <a:srgbClr val="1F2A44"/>
                    </a:solidFill>
                  </a:tcPr>
                </a:tc>
                <a:tc>
                  <a:txBody>
                    <a:bodyPr/>
                    <a:lstStyle/>
                    <a:p>
                      <a:pPr algn="ctr"/>
                      <a:r>
                        <a:rPr sz="1150" b="1">
                          <a:solidFill>
                            <a:srgbClr val="FFFFFF"/>
                          </a:solidFill>
                          <a:latin typeface="Calibri"/>
                        </a:rPr>
                        <a:t>Held-out ↑</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Start</a:t>
                      </a:r>
                    </a:p>
                  </a:txBody>
                  <a:tcPr marL="76200" marR="76200" marT="12700" marB="12700" anchor="ctr">
                    <a:solidFill>
                      <a:srgbClr val="FFFFFF"/>
                    </a:solidFill>
                  </a:tcPr>
                </a:tc>
                <a:tc>
                  <a:txBody>
                    <a:bodyPr/>
                    <a:lstStyle/>
                    <a:p>
                      <a:pPr algn="ctr"/>
                      <a:r>
                        <a:rPr sz="1150" b="1">
                          <a:solidFill>
                            <a:srgbClr val="E89B2E"/>
                          </a:solidFill>
                          <a:latin typeface="Calibri"/>
                        </a:rPr>
                        <a:t>0.71</a:t>
                      </a:r>
                    </a:p>
                  </a:txBody>
                  <a:tcPr marL="76200" marR="76200" marT="12700" marB="12700" anchor="ctr">
                    <a:solidFill>
                      <a:srgbClr val="FFFFFF"/>
                    </a:solidFill>
                  </a:tcPr>
                </a:tc>
                <a:tc>
                  <a:txBody>
                    <a:bodyPr/>
                    <a:lstStyle/>
                    <a:p>
                      <a:pPr algn="ctr"/>
                      <a:r>
                        <a:rPr sz="1150" b="0">
                          <a:solidFill>
                            <a:srgbClr val="141B2E"/>
                          </a:solidFill>
                          <a:latin typeface="Calibri"/>
                        </a:rPr>
                        <a:t>0.70</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Round 1</a:t>
                      </a:r>
                    </a:p>
                  </a:txBody>
                  <a:tcPr marL="76200" marR="76200" marT="12700" marB="12700" anchor="ctr">
                    <a:solidFill>
                      <a:srgbClr val="E4E9F2"/>
                    </a:solidFill>
                  </a:tcPr>
                </a:tc>
                <a:tc>
                  <a:txBody>
                    <a:bodyPr/>
                    <a:lstStyle/>
                    <a:p>
                      <a:pPr algn="ctr"/>
                      <a:r>
                        <a:rPr sz="1150" b="1">
                          <a:solidFill>
                            <a:srgbClr val="E89B2E"/>
                          </a:solidFill>
                          <a:latin typeface="Calibri"/>
                        </a:rPr>
                        <a:t>0.78</a:t>
                      </a:r>
                    </a:p>
                  </a:txBody>
                  <a:tcPr marL="76200" marR="76200" marT="12700" marB="12700" anchor="ctr">
                    <a:solidFill>
                      <a:srgbClr val="E4E9F2"/>
                    </a:solidFill>
                  </a:tcPr>
                </a:tc>
                <a:tc>
                  <a:txBody>
                    <a:bodyPr/>
                    <a:lstStyle/>
                    <a:p>
                      <a:pPr algn="ctr"/>
                      <a:r>
                        <a:rPr sz="1150" b="0">
                          <a:solidFill>
                            <a:srgbClr val="141B2E"/>
                          </a:solidFill>
                          <a:latin typeface="Calibri"/>
                        </a:rPr>
                        <a:t>0.74</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Round 2</a:t>
                      </a:r>
                    </a:p>
                  </a:txBody>
                  <a:tcPr marL="76200" marR="76200" marT="12700" marB="12700" anchor="ctr">
                    <a:solidFill>
                      <a:srgbClr val="FFFFFF"/>
                    </a:solidFill>
                  </a:tcPr>
                </a:tc>
                <a:tc>
                  <a:txBody>
                    <a:bodyPr/>
                    <a:lstStyle/>
                    <a:p>
                      <a:pPr algn="ctr"/>
                      <a:r>
                        <a:rPr sz="1150" b="1">
                          <a:solidFill>
                            <a:srgbClr val="E89B2E"/>
                          </a:solidFill>
                          <a:latin typeface="Calibri"/>
                        </a:rPr>
                        <a:t>0.83</a:t>
                      </a:r>
                    </a:p>
                  </a:txBody>
                  <a:tcPr marL="76200" marR="76200" marT="12700" marB="12700" anchor="ctr">
                    <a:solidFill>
                      <a:srgbClr val="FFFFFF"/>
                    </a:solidFill>
                  </a:tcPr>
                </a:tc>
                <a:tc>
                  <a:txBody>
                    <a:bodyPr/>
                    <a:lstStyle/>
                    <a:p>
                      <a:pPr algn="ctr"/>
                      <a:r>
                        <a:rPr sz="1150" b="0">
                          <a:solidFill>
                            <a:srgbClr val="141B2E"/>
                          </a:solidFill>
                          <a:latin typeface="Calibri"/>
                        </a:rPr>
                        <a:t>0.79</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Round 3</a:t>
                      </a:r>
                    </a:p>
                  </a:txBody>
                  <a:tcPr marL="76200" marR="76200" marT="12700" marB="12700" anchor="ctr">
                    <a:solidFill>
                      <a:srgbClr val="E4E9F2"/>
                    </a:solidFill>
                  </a:tcPr>
                </a:tc>
                <a:tc>
                  <a:txBody>
                    <a:bodyPr/>
                    <a:lstStyle/>
                    <a:p>
                      <a:pPr algn="ctr"/>
                      <a:r>
                        <a:rPr sz="1150" b="1">
                          <a:solidFill>
                            <a:srgbClr val="E89B2E"/>
                          </a:solidFill>
                          <a:latin typeface="Calibri"/>
                        </a:rPr>
                        <a:t>0.86</a:t>
                      </a:r>
                    </a:p>
                  </a:txBody>
                  <a:tcPr marL="76200" marR="76200" marT="12700" marB="12700" anchor="ctr">
                    <a:solidFill>
                      <a:srgbClr val="E4E9F2"/>
                    </a:solidFill>
                  </a:tcPr>
                </a:tc>
                <a:tc>
                  <a:txBody>
                    <a:bodyPr/>
                    <a:lstStyle/>
                    <a:p>
                      <a:pPr algn="ctr"/>
                      <a:r>
                        <a:rPr sz="1150" b="0">
                          <a:solidFill>
                            <a:srgbClr val="141B2E"/>
                          </a:solidFill>
                          <a:latin typeface="Calibri"/>
                        </a:rPr>
                        <a:t>0.82</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The quality score Ĵ climbs each round and the gains hold on unseen traces, with negative transfer staying under ~5% — the harness learns, the base model stays frozen.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EXPERIMENT SA-6   ·   Stress + integrity</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Does it hold up under tricky cases?</a:t>
            </a:r>
          </a:p>
        </p:txBody>
      </p:sp>
      <p:sp>
        <p:nvSpPr>
          <p:cNvPr id="6" name="Rectangle 5"/>
          <p:cNvSpPr/>
          <p:nvPr/>
        </p:nvSpPr>
        <p:spPr>
          <a:xfrm>
            <a:off x="10881360" y="256032"/>
            <a:ext cx="822960" cy="566928"/>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81360" y="274320"/>
            <a:ext cx="822960" cy="548640"/>
          </a:xfrm>
          <a:prstGeom prst="rect">
            <a:avLst/>
          </a:prstGeom>
          <a:noFill/>
        </p:spPr>
        <p:txBody>
          <a:bodyPr wrap="square" lIns="50800" tIns="25400" rIns="50800" bIns="25400" anchor="ctr">
            <a:spAutoFit/>
          </a:bodyPr>
          <a:lstStyle/>
          <a:p>
            <a:pPr algn="ctr">
              <a:spcBef>
                <a:spcPts val="0"/>
              </a:spcBef>
              <a:spcAft>
                <a:spcPts val="400"/>
              </a:spcAft>
            </a:pPr>
            <a:r>
              <a:rPr sz="1800" b="1" i="0">
                <a:solidFill>
                  <a:srgbClr val="FFFFFF"/>
                </a:solidFill>
                <a:latin typeface="Calibri"/>
              </a:rPr>
              <a:t>6</a:t>
            </a:r>
          </a:p>
        </p:txBody>
      </p:sp>
      <p:sp>
        <p:nvSpPr>
          <p:cNvPr id="8" name="Rectangle 7"/>
          <p:cNvSpPr/>
          <p:nvPr/>
        </p:nvSpPr>
        <p:spPr>
          <a:xfrm>
            <a:off x="548640" y="1325880"/>
            <a:ext cx="5806440" cy="14173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325880"/>
            <a:ext cx="82296" cy="14173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399032"/>
            <a:ext cx="5486400" cy="274320"/>
          </a:xfrm>
          <a:prstGeom prst="rect">
            <a:avLst/>
          </a:prstGeom>
          <a:noFill/>
        </p:spPr>
        <p:txBody>
          <a:bodyPr wrap="square" lIns="50800" tIns="25400" rIns="50800" bIns="25400" anchor="t">
            <a:spAutoFit/>
          </a:bodyPr>
          <a:lstStyle/>
          <a:p>
            <a:pPr algn="l">
              <a:spcBef>
                <a:spcPts val="0"/>
              </a:spcBef>
              <a:spcAft>
                <a:spcPts val="400"/>
              </a:spcAft>
            </a:pPr>
            <a:r>
              <a:rPr sz="1200" b="1" i="0">
                <a:solidFill>
                  <a:srgbClr val="2DAA9E"/>
                </a:solidFill>
                <a:latin typeface="Calibri"/>
              </a:rPr>
              <a:t>IN PLAIN ENGLISH</a:t>
            </a:r>
          </a:p>
        </p:txBody>
      </p:sp>
      <p:sp>
        <p:nvSpPr>
          <p:cNvPr id="11" name="TextBox 10"/>
          <p:cNvSpPr txBox="1"/>
          <p:nvPr/>
        </p:nvSpPr>
        <p:spPr>
          <a:xfrm>
            <a:off x="749808" y="1673352"/>
            <a:ext cx="5486400" cy="1005840"/>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141B2E"/>
                </a:solidFill>
                <a:latin typeface="Calibri"/>
              </a:rPr>
              <a:t>Real deployments are full of traps: agents that take shortcuts, logs that contradict each other, rules that change halfway through a task. Does AVG stay reliable when things get adversarial — and how much of that reliability comes from the integrity checker?</a:t>
            </a:r>
          </a:p>
        </p:txBody>
      </p:sp>
      <p:sp>
        <p:nvSpPr>
          <p:cNvPr id="12" name="TextBox 11"/>
          <p:cNvSpPr txBox="1"/>
          <p:nvPr/>
        </p:nvSpPr>
        <p:spPr>
          <a:xfrm>
            <a:off x="548640" y="2926080"/>
            <a:ext cx="580644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How we test it</a:t>
            </a:r>
          </a:p>
        </p:txBody>
      </p:sp>
      <p:sp>
        <p:nvSpPr>
          <p:cNvPr id="13" name="TextBox 12"/>
          <p:cNvSpPr txBox="1"/>
          <p:nvPr/>
        </p:nvSpPr>
        <p:spPr>
          <a:xfrm>
            <a:off x="548640" y="3310128"/>
            <a:ext cx="5806440" cy="2468880"/>
          </a:xfrm>
          <a:prstGeom prst="rect">
            <a:avLst/>
          </a:prstGeom>
          <a:noFill/>
        </p:spPr>
        <p:txBody>
          <a:bodyPr wrap="square" lIns="50800" tIns="25400" rIns="50800" bIns="25400" anchor="t">
            <a:spAutoFit/>
          </a:bodyPr>
          <a:lstStyle/>
          <a:p>
            <a:pPr algn="l">
              <a:lnSpc>
                <a:spcPct val="110000"/>
              </a:lnSpc>
              <a:spcBef>
                <a:spcPts val="0"/>
              </a:spcBef>
              <a:spcAft>
                <a:spcPts val="400"/>
              </a:spcAft>
            </a:pPr>
            <a:r>
              <a:rPr sz="1350" b="0" i="0">
                <a:solidFill>
                  <a:srgbClr val="141B2E"/>
                </a:solidFill>
                <a:latin typeface="Calibri"/>
              </a:rPr>
              <a:t>We deliberately sabotage traces in realistic ways — an agent that passes a hidden test but fails the real grader, records that disagree with each other, rules that shift mid-run — and check whether AVG still catches the problem. Then we remove the integrity checker entirely to find out how much of the catching it was quietly responsible for.</a:t>
            </a:r>
          </a:p>
        </p:txBody>
      </p:sp>
      <p:sp>
        <p:nvSpPr>
          <p:cNvPr id="14" name="Rectangle 13"/>
          <p:cNvSpPr/>
          <p:nvPr/>
        </p:nvSpPr>
        <p:spPr>
          <a:xfrm>
            <a:off x="548640" y="5852160"/>
            <a:ext cx="5806440" cy="77724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852160"/>
            <a:ext cx="82296" cy="77724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5916168"/>
            <a:ext cx="5486400" cy="658368"/>
          </a:xfrm>
          <a:prstGeom prst="rect">
            <a:avLst/>
          </a:prstGeom>
          <a:noFill/>
        </p:spPr>
        <p:txBody>
          <a:bodyPr wrap="square" lIns="50800" tIns="25400" rIns="50800" bIns="25400" anchor="t">
            <a:spAutoFit/>
          </a:bodyPr>
          <a:lstStyle/>
          <a:p>
            <a:pPr algn="l">
              <a:lnSpc>
                <a:spcPct val="100000"/>
              </a:lnSpc>
              <a:spcBef>
                <a:spcPts val="0"/>
              </a:spcBef>
              <a:spcAft>
                <a:spcPts val="400"/>
              </a:spcAft>
            </a:pPr>
            <a:r>
              <a:rPr sz="1250" b="1" i="0">
                <a:solidFill>
                  <a:srgbClr val="E89B2E"/>
                </a:solidFill>
                <a:latin typeface="Calibri"/>
              </a:rPr>
              <a:t>Think of it like  </a:t>
            </a:r>
            <a:r>
              <a:rPr sz="1250" b="0" i="1">
                <a:solidFill>
                  <a:srgbClr val="141B2E"/>
                </a:solidFill>
                <a:latin typeface="Calibri"/>
              </a:rPr>
              <a:t>an auditor who checks the receipts match the books, not just that the totals look plausible.</a:t>
            </a:r>
          </a:p>
        </p:txBody>
      </p:sp>
      <p:sp>
        <p:nvSpPr>
          <p:cNvPr id="17" name="TextBox 16"/>
          <p:cNvSpPr txBox="1"/>
          <p:nvPr/>
        </p:nvSpPr>
        <p:spPr>
          <a:xfrm>
            <a:off x="6583680" y="1325880"/>
            <a:ext cx="5029200" cy="320040"/>
          </a:xfrm>
          <a:prstGeom prst="rect">
            <a:avLst/>
          </a:prstGeom>
          <a:noFill/>
        </p:spPr>
        <p:txBody>
          <a:bodyPr wrap="square" lIns="50800" tIns="25400" rIns="50800" bIns="25400" anchor="t">
            <a:spAutoFit/>
          </a:bodyPr>
          <a:lstStyle/>
          <a:p>
            <a:pPr algn="l">
              <a:spcBef>
                <a:spcPts val="0"/>
              </a:spcBef>
              <a:spcAft>
                <a:spcPts val="400"/>
              </a:spcAft>
            </a:pPr>
            <a:r>
              <a:rPr sz="1500" b="1" i="0">
                <a:solidFill>
                  <a:srgbClr val="1F2A44"/>
                </a:solidFill>
                <a:latin typeface="Calibri"/>
              </a:rPr>
              <a:t>What we expect to see</a:t>
            </a:r>
          </a:p>
        </p:txBody>
      </p:sp>
      <p:sp>
        <p:nvSpPr>
          <p:cNvPr id="18" name="TextBox 17"/>
          <p:cNvSpPr txBox="1"/>
          <p:nvPr/>
        </p:nvSpPr>
        <p:spPr>
          <a:xfrm>
            <a:off x="6583680" y="1664208"/>
            <a:ext cx="5486400" cy="274320"/>
          </a:xfrm>
          <a:prstGeom prst="rect">
            <a:avLst/>
          </a:prstGeom>
          <a:noFill/>
        </p:spPr>
        <p:txBody>
          <a:bodyPr wrap="square" lIns="50800" tIns="25400" rIns="50800" bIns="25400" anchor="t">
            <a:spAutoFit/>
          </a:bodyPr>
          <a:lstStyle/>
          <a:p>
            <a:pPr algn="l">
              <a:spcBef>
                <a:spcPts val="0"/>
              </a:spcBef>
              <a:spcAft>
                <a:spcPts val="400"/>
              </a:spcAft>
            </a:pPr>
            <a:r>
              <a:rPr sz="1100" b="1" i="1">
                <a:solidFill>
                  <a:srgbClr val="E89B2E"/>
                </a:solidFill>
                <a:latin typeface="Calibri"/>
              </a:rPr>
              <a:t>MOCK / illustrative — expected shape of result, not measured data</a:t>
            </a:r>
          </a:p>
        </p:txBody>
      </p:sp>
      <p:graphicFrame>
        <p:nvGraphicFramePr>
          <p:cNvPr id="19" name="Table 18"/>
          <p:cNvGraphicFramePr>
            <a:graphicFrameLocks noGrp="1"/>
          </p:cNvGraphicFramePr>
          <p:nvPr/>
        </p:nvGraphicFramePr>
        <p:xfrm>
          <a:off x="6583680" y="2057400"/>
          <a:ext cx="5029200" cy="1609344"/>
        </p:xfrm>
        <a:graphic>
          <a:graphicData uri="http://schemas.openxmlformats.org/drawingml/2006/table">
            <a:tbl>
              <a:tblPr>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65760">
                <a:tc>
                  <a:txBody>
                    <a:bodyPr/>
                    <a:lstStyle/>
                    <a:p>
                      <a:pPr algn="l"/>
                      <a:r>
                        <a:rPr sz="1150" b="1">
                          <a:solidFill>
                            <a:srgbClr val="FFFFFF"/>
                          </a:solidFill>
                          <a:latin typeface="Calibri"/>
                        </a:rPr>
                        <a:t>Perturbation</a:t>
                      </a:r>
                    </a:p>
                  </a:txBody>
                  <a:tcPr marL="76200" marR="76200" marT="25400" marB="25400" anchor="ctr">
                    <a:solidFill>
                      <a:srgbClr val="1F2A44"/>
                    </a:solidFill>
                  </a:tcPr>
                </a:tc>
                <a:tc>
                  <a:txBody>
                    <a:bodyPr/>
                    <a:lstStyle/>
                    <a:p>
                      <a:pPr algn="ctr"/>
                      <a:r>
                        <a:rPr sz="1150" b="1">
                          <a:solidFill>
                            <a:srgbClr val="FFFFFF"/>
                          </a:solidFill>
                          <a:latin typeface="Calibri"/>
                        </a:rPr>
                        <a:t>AVG</a:t>
                      </a:r>
                    </a:p>
                  </a:txBody>
                  <a:tcPr marL="76200" marR="76200" marT="25400" marB="25400" anchor="ctr">
                    <a:solidFill>
                      <a:srgbClr val="1F2A44"/>
                    </a:solidFill>
                  </a:tcPr>
                </a:tc>
                <a:tc>
                  <a:txBody>
                    <a:bodyPr/>
                    <a:lstStyle/>
                    <a:p>
                      <a:pPr algn="ctr"/>
                      <a:r>
                        <a:rPr sz="1150" b="1">
                          <a:solidFill>
                            <a:srgbClr val="FFFFFF"/>
                          </a:solidFill>
                          <a:latin typeface="Calibri"/>
                        </a:rPr>
                        <a:t>No-integrity</a:t>
                      </a:r>
                    </a:p>
                  </a:txBody>
                  <a:tcPr marL="76200" marR="76200" marT="25400" marB="25400" anchor="ctr">
                    <a:solidFill>
                      <a:srgbClr val="1F2A44"/>
                    </a:solidFill>
                  </a:tcPr>
                </a:tc>
                <a:extLst>
                  <a:ext uri="{0D108BD9-81ED-4DB2-BD59-A6C34878D82A}">
                    <a16:rowId xmlns:a16="http://schemas.microsoft.com/office/drawing/2014/main" val="10000"/>
                  </a:ext>
                </a:extLst>
              </a:tr>
              <a:tr h="310896">
                <a:tc>
                  <a:txBody>
                    <a:bodyPr/>
                    <a:lstStyle/>
                    <a:p>
                      <a:pPr algn="l"/>
                      <a:r>
                        <a:rPr sz="1150" b="1">
                          <a:solidFill>
                            <a:srgbClr val="141B2E"/>
                          </a:solidFill>
                          <a:latin typeface="Calibri"/>
                        </a:rPr>
                        <a:t>Shortcut taken</a:t>
                      </a:r>
                    </a:p>
                  </a:txBody>
                  <a:tcPr marL="76200" marR="76200" marT="12700" marB="12700" anchor="ctr">
                    <a:solidFill>
                      <a:srgbClr val="FFFFFF"/>
                    </a:solidFill>
                  </a:tcPr>
                </a:tc>
                <a:tc>
                  <a:txBody>
                    <a:bodyPr/>
                    <a:lstStyle/>
                    <a:p>
                      <a:pPr algn="ctr"/>
                      <a:r>
                        <a:rPr sz="1150" b="1">
                          <a:solidFill>
                            <a:srgbClr val="E89B2E"/>
                          </a:solidFill>
                          <a:latin typeface="Calibri"/>
                        </a:rPr>
                        <a:t>0.88</a:t>
                      </a:r>
                    </a:p>
                  </a:txBody>
                  <a:tcPr marL="76200" marR="76200" marT="12700" marB="12700" anchor="ctr">
                    <a:solidFill>
                      <a:srgbClr val="FFFFFF"/>
                    </a:solidFill>
                  </a:tcPr>
                </a:tc>
                <a:tc>
                  <a:txBody>
                    <a:bodyPr/>
                    <a:lstStyle/>
                    <a:p>
                      <a:pPr algn="ctr"/>
                      <a:r>
                        <a:rPr sz="1150" b="0">
                          <a:solidFill>
                            <a:srgbClr val="141B2E"/>
                          </a:solidFill>
                          <a:latin typeface="Calibri"/>
                        </a:rPr>
                        <a:t>0.30</a:t>
                      </a:r>
                    </a:p>
                  </a:txBody>
                  <a:tcPr marL="76200" marR="76200" marT="12700" marB="12700" anchor="ctr">
                    <a:solidFill>
                      <a:srgbClr val="FFFFFF"/>
                    </a:solidFill>
                  </a:tcPr>
                </a:tc>
                <a:extLst>
                  <a:ext uri="{0D108BD9-81ED-4DB2-BD59-A6C34878D82A}">
                    <a16:rowId xmlns:a16="http://schemas.microsoft.com/office/drawing/2014/main" val="10001"/>
                  </a:ext>
                </a:extLst>
              </a:tr>
              <a:tr h="310896">
                <a:tc>
                  <a:txBody>
                    <a:bodyPr/>
                    <a:lstStyle/>
                    <a:p>
                      <a:pPr algn="l"/>
                      <a:r>
                        <a:rPr sz="1150" b="1">
                          <a:solidFill>
                            <a:srgbClr val="141B2E"/>
                          </a:solidFill>
                          <a:latin typeface="Calibri"/>
                        </a:rPr>
                        <a:t>Contradictory logs</a:t>
                      </a:r>
                    </a:p>
                  </a:txBody>
                  <a:tcPr marL="76200" marR="76200" marT="12700" marB="12700" anchor="ctr">
                    <a:solidFill>
                      <a:srgbClr val="E4E9F2"/>
                    </a:solidFill>
                  </a:tcPr>
                </a:tc>
                <a:tc>
                  <a:txBody>
                    <a:bodyPr/>
                    <a:lstStyle/>
                    <a:p>
                      <a:pPr algn="ctr"/>
                      <a:r>
                        <a:rPr sz="1150" b="1">
                          <a:solidFill>
                            <a:srgbClr val="E89B2E"/>
                          </a:solidFill>
                          <a:latin typeface="Calibri"/>
                        </a:rPr>
                        <a:t>0.83</a:t>
                      </a:r>
                    </a:p>
                  </a:txBody>
                  <a:tcPr marL="76200" marR="76200" marT="12700" marB="12700" anchor="ctr">
                    <a:solidFill>
                      <a:srgbClr val="E4E9F2"/>
                    </a:solidFill>
                  </a:tcPr>
                </a:tc>
                <a:tc>
                  <a:txBody>
                    <a:bodyPr/>
                    <a:lstStyle/>
                    <a:p>
                      <a:pPr algn="ctr"/>
                      <a:r>
                        <a:rPr sz="1150" b="0">
                          <a:solidFill>
                            <a:srgbClr val="141B2E"/>
                          </a:solidFill>
                          <a:latin typeface="Calibri"/>
                        </a:rPr>
                        <a:t>0.52</a:t>
                      </a:r>
                    </a:p>
                  </a:txBody>
                  <a:tcPr marL="76200" marR="76200" marT="12700" marB="12700" anchor="ctr">
                    <a:solidFill>
                      <a:srgbClr val="E4E9F2"/>
                    </a:solidFill>
                  </a:tcPr>
                </a:tc>
                <a:extLst>
                  <a:ext uri="{0D108BD9-81ED-4DB2-BD59-A6C34878D82A}">
                    <a16:rowId xmlns:a16="http://schemas.microsoft.com/office/drawing/2014/main" val="10002"/>
                  </a:ext>
                </a:extLst>
              </a:tr>
              <a:tr h="310896">
                <a:tc>
                  <a:txBody>
                    <a:bodyPr/>
                    <a:lstStyle/>
                    <a:p>
                      <a:pPr algn="l"/>
                      <a:r>
                        <a:rPr sz="1150" b="1">
                          <a:solidFill>
                            <a:srgbClr val="141B2E"/>
                          </a:solidFill>
                          <a:latin typeface="Calibri"/>
                        </a:rPr>
                        <a:t>Policy drift</a:t>
                      </a:r>
                    </a:p>
                  </a:txBody>
                  <a:tcPr marL="76200" marR="76200" marT="12700" marB="12700" anchor="ctr">
                    <a:solidFill>
                      <a:srgbClr val="FFFFFF"/>
                    </a:solidFill>
                  </a:tcPr>
                </a:tc>
                <a:tc>
                  <a:txBody>
                    <a:bodyPr/>
                    <a:lstStyle/>
                    <a:p>
                      <a:pPr algn="ctr"/>
                      <a:r>
                        <a:rPr sz="1150" b="1">
                          <a:solidFill>
                            <a:srgbClr val="E89B2E"/>
                          </a:solidFill>
                          <a:latin typeface="Calibri"/>
                        </a:rPr>
                        <a:t>0.79</a:t>
                      </a:r>
                    </a:p>
                  </a:txBody>
                  <a:tcPr marL="76200" marR="76200" marT="12700" marB="12700" anchor="ctr">
                    <a:solidFill>
                      <a:srgbClr val="FFFFFF"/>
                    </a:solidFill>
                  </a:tcPr>
                </a:tc>
                <a:tc>
                  <a:txBody>
                    <a:bodyPr/>
                    <a:lstStyle/>
                    <a:p>
                      <a:pPr algn="ctr"/>
                      <a:r>
                        <a:rPr sz="1150" b="0">
                          <a:solidFill>
                            <a:srgbClr val="141B2E"/>
                          </a:solidFill>
                          <a:latin typeface="Calibri"/>
                        </a:rPr>
                        <a:t>0.55</a:t>
                      </a:r>
                    </a:p>
                  </a:txBody>
                  <a:tcPr marL="76200" marR="76200" marT="12700" marB="12700" anchor="ctr">
                    <a:solidFill>
                      <a:srgbClr val="FFFFFF"/>
                    </a:solidFill>
                  </a:tcPr>
                </a:tc>
                <a:extLst>
                  <a:ext uri="{0D108BD9-81ED-4DB2-BD59-A6C34878D82A}">
                    <a16:rowId xmlns:a16="http://schemas.microsoft.com/office/drawing/2014/main" val="10003"/>
                  </a:ext>
                </a:extLst>
              </a:tr>
              <a:tr h="310896">
                <a:tc>
                  <a:txBody>
                    <a:bodyPr/>
                    <a:lstStyle/>
                    <a:p>
                      <a:pPr algn="l"/>
                      <a:r>
                        <a:rPr sz="1150" b="1">
                          <a:solidFill>
                            <a:srgbClr val="141B2E"/>
                          </a:solidFill>
                          <a:latin typeface="Calibri"/>
                        </a:rPr>
                        <a:t>Large tool menu</a:t>
                      </a:r>
                    </a:p>
                  </a:txBody>
                  <a:tcPr marL="76200" marR="76200" marT="12700" marB="12700" anchor="ctr">
                    <a:solidFill>
                      <a:srgbClr val="E4E9F2"/>
                    </a:solidFill>
                  </a:tcPr>
                </a:tc>
                <a:tc>
                  <a:txBody>
                    <a:bodyPr/>
                    <a:lstStyle/>
                    <a:p>
                      <a:pPr algn="ctr"/>
                      <a:r>
                        <a:rPr sz="1150" b="1">
                          <a:solidFill>
                            <a:srgbClr val="E89B2E"/>
                          </a:solidFill>
                          <a:latin typeface="Calibri"/>
                        </a:rPr>
                        <a:t>0.85</a:t>
                      </a:r>
                    </a:p>
                  </a:txBody>
                  <a:tcPr marL="76200" marR="76200" marT="12700" marB="12700" anchor="ctr">
                    <a:solidFill>
                      <a:srgbClr val="E4E9F2"/>
                    </a:solidFill>
                  </a:tcPr>
                </a:tc>
                <a:tc>
                  <a:txBody>
                    <a:bodyPr/>
                    <a:lstStyle/>
                    <a:p>
                      <a:pPr algn="ctr"/>
                      <a:r>
                        <a:rPr sz="1150" b="0">
                          <a:solidFill>
                            <a:srgbClr val="141B2E"/>
                          </a:solidFill>
                          <a:latin typeface="Calibri"/>
                        </a:rPr>
                        <a:t>0.80</a:t>
                      </a:r>
                    </a:p>
                  </a:txBody>
                  <a:tcPr marL="76200" marR="76200" marT="12700" marB="12700" anchor="ctr">
                    <a:solidFill>
                      <a:srgbClr val="E4E9F2"/>
                    </a:solidFill>
                  </a:tcPr>
                </a:tc>
                <a:extLst>
                  <a:ext uri="{0D108BD9-81ED-4DB2-BD59-A6C34878D82A}">
                    <a16:rowId xmlns:a16="http://schemas.microsoft.com/office/drawing/2014/main" val="10004"/>
                  </a:ext>
                </a:extLst>
              </a:tr>
            </a:tbl>
          </a:graphicData>
        </a:graphic>
      </p:graphicFrame>
      <p:sp>
        <p:nvSpPr>
          <p:cNvPr id="20" name="Rectangle 19"/>
          <p:cNvSpPr/>
          <p:nvPr/>
        </p:nvSpPr>
        <p:spPr>
          <a:xfrm>
            <a:off x="6583680" y="3986784"/>
            <a:ext cx="5029200" cy="241401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84848" y="4096512"/>
            <a:ext cx="4663440" cy="320040"/>
          </a:xfrm>
          <a:prstGeom prst="rect">
            <a:avLst/>
          </a:prstGeom>
          <a:noFill/>
        </p:spPr>
        <p:txBody>
          <a:bodyPr wrap="square" lIns="50800" tIns="25400" rIns="50800" bIns="25400" anchor="t">
            <a:spAutoFit/>
          </a:bodyPr>
          <a:lstStyle/>
          <a:p>
            <a:pPr algn="l">
              <a:spcBef>
                <a:spcPts val="0"/>
              </a:spcBef>
              <a:spcAft>
                <a:spcPts val="400"/>
              </a:spcAft>
            </a:pPr>
            <a:r>
              <a:rPr sz="1250" b="1" i="0">
                <a:solidFill>
                  <a:srgbClr val="2DAA9E"/>
                </a:solidFill>
                <a:latin typeface="Calibri"/>
              </a:rPr>
              <a:t>Expected takeaway</a:t>
            </a:r>
          </a:p>
        </p:txBody>
      </p:sp>
      <p:sp>
        <p:nvSpPr>
          <p:cNvPr id="22" name="TextBox 21"/>
          <p:cNvSpPr txBox="1"/>
          <p:nvPr/>
        </p:nvSpPr>
        <p:spPr>
          <a:xfrm>
            <a:off x="6784848" y="4425696"/>
            <a:ext cx="4663440" cy="1956816"/>
          </a:xfrm>
          <a:prstGeom prst="rect">
            <a:avLst/>
          </a:prstGeom>
          <a:noFill/>
        </p:spPr>
        <p:txBody>
          <a:bodyPr wrap="square" lIns="50800" tIns="25400" rIns="50800" bIns="25400" anchor="t">
            <a:spAutoFit/>
          </a:bodyPr>
          <a:lstStyle/>
          <a:p>
            <a:pPr algn="l">
              <a:lnSpc>
                <a:spcPct val="108000"/>
              </a:lnSpc>
              <a:spcBef>
                <a:spcPts val="0"/>
              </a:spcBef>
              <a:spcAft>
                <a:spcPts val="400"/>
              </a:spcAft>
            </a:pPr>
            <a:r>
              <a:rPr sz="1350" b="0" i="0">
                <a:solidFill>
                  <a:srgbClr val="FFFFFF"/>
                </a:solidFill>
                <a:latin typeface="Calibri"/>
              </a:rPr>
              <a:t>AVG catches most shortcut and contradiction traps; pulling out the integrity checker collapses shortcut-catch from ~0.88 to ~0.30 — showing that layer is doing real work, not decoration.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6304"/>
            <a:ext cx="10058400" cy="320040"/>
          </a:xfrm>
          <a:prstGeom prst="rect">
            <a:avLst/>
          </a:prstGeom>
          <a:noFill/>
        </p:spPr>
        <p:txBody>
          <a:bodyPr wrap="square" lIns="50800" tIns="25400" rIns="50800" bIns="25400" anchor="t">
            <a:spAutoFit/>
          </a:bodyPr>
          <a:lstStyle/>
          <a:p>
            <a:pPr algn="l">
              <a:spcBef>
                <a:spcPts val="0"/>
              </a:spcBef>
              <a:spcAft>
                <a:spcPts val="400"/>
              </a:spcAft>
            </a:pPr>
            <a:r>
              <a:rPr sz="1300" b="1" i="0">
                <a:solidFill>
                  <a:srgbClr val="2DAA9E"/>
                </a:solidFill>
                <a:latin typeface="Calibri"/>
              </a:rPr>
              <a:t>PUTTING IT TOGETHER</a:t>
            </a:r>
          </a:p>
        </p:txBody>
      </p:sp>
      <p:sp>
        <p:nvSpPr>
          <p:cNvPr id="5" name="TextBox 4"/>
          <p:cNvSpPr txBox="1"/>
          <p:nvPr/>
        </p:nvSpPr>
        <p:spPr>
          <a:xfrm>
            <a:off x="548640" y="438912"/>
            <a:ext cx="10607040" cy="566928"/>
          </a:xfrm>
          <a:prstGeom prst="rect">
            <a:avLst/>
          </a:prstGeom>
          <a:noFill/>
        </p:spPr>
        <p:txBody>
          <a:bodyPr wrap="square" lIns="50800" tIns="25400" rIns="50800" bIns="25400" anchor="t">
            <a:spAutoFit/>
          </a:bodyPr>
          <a:lstStyle/>
          <a:p>
            <a:pPr algn="l">
              <a:spcBef>
                <a:spcPts val="0"/>
              </a:spcBef>
              <a:spcAft>
                <a:spcPts val="400"/>
              </a:spcAft>
            </a:pPr>
            <a:r>
              <a:rPr sz="2500" b="1" i="0">
                <a:solidFill>
                  <a:srgbClr val="FFFFFF"/>
                </a:solidFill>
                <a:latin typeface="Calibri"/>
              </a:rPr>
              <a:t>What runs now, and what needs data</a:t>
            </a:r>
          </a:p>
        </p:txBody>
      </p:sp>
      <p:sp>
        <p:nvSpPr>
          <p:cNvPr id="6" name="Rectangle 5"/>
          <p:cNvSpPr/>
          <p:nvPr/>
        </p:nvSpPr>
        <p:spPr>
          <a:xfrm>
            <a:off x="548640" y="1417320"/>
            <a:ext cx="3657600" cy="502920"/>
          </a:xfrm>
          <a:prstGeom prst="rect">
            <a:avLst/>
          </a:prstGeom>
          <a:solidFill>
            <a:srgbClr val="2DA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35608"/>
            <a:ext cx="3657600" cy="457200"/>
          </a:xfrm>
          <a:prstGeom prst="rect">
            <a:avLst/>
          </a:prstGeom>
          <a:noFill/>
        </p:spPr>
        <p:txBody>
          <a:bodyPr wrap="square" lIns="50800" tIns="25400" rIns="50800" bIns="25400" anchor="ctr">
            <a:spAutoFit/>
          </a:bodyPr>
          <a:lstStyle/>
          <a:p>
            <a:pPr algn="ctr">
              <a:spcBef>
                <a:spcPts val="0"/>
              </a:spcBef>
              <a:spcAft>
                <a:spcPts val="400"/>
              </a:spcAft>
            </a:pPr>
            <a:r>
              <a:rPr sz="1450" b="1" i="0">
                <a:solidFill>
                  <a:srgbClr val="FFFFFF"/>
                </a:solidFill>
                <a:latin typeface="Calibri"/>
              </a:rPr>
              <a:t>We can run these today</a:t>
            </a:r>
          </a:p>
        </p:txBody>
      </p:sp>
      <p:sp>
        <p:nvSpPr>
          <p:cNvPr id="8" name="Rectangle 7"/>
          <p:cNvSpPr/>
          <p:nvPr/>
        </p:nvSpPr>
        <p:spPr>
          <a:xfrm>
            <a:off x="548640" y="1920240"/>
            <a:ext cx="3657600" cy="3566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121408"/>
            <a:ext cx="3291840" cy="3291840"/>
          </a:xfrm>
          <a:prstGeom prst="rect">
            <a:avLst/>
          </a:prstGeom>
          <a:noFill/>
        </p:spPr>
        <p:txBody>
          <a:bodyPr wrap="square" lIns="50800" rIns="50800">
            <a:spAutoFit/>
          </a:bodyPr>
          <a:lstStyle/>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Graph vs. one big judge (SA-1)</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Catching mistakes early (SA-4)</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Rules that improve themselves (SA-5)</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Shortcut &amp; integrity stress tests (SA-6)</a:t>
            </a:r>
          </a:p>
        </p:txBody>
      </p:sp>
      <p:sp>
        <p:nvSpPr>
          <p:cNvPr id="10" name="Rectangle 9"/>
          <p:cNvSpPr/>
          <p:nvPr/>
        </p:nvSpPr>
        <p:spPr>
          <a:xfrm>
            <a:off x="4315968" y="1417320"/>
            <a:ext cx="3657600" cy="502920"/>
          </a:xfrm>
          <a:prstGeom prst="rect">
            <a:avLst/>
          </a:prstGeom>
          <a:solidFill>
            <a:srgbClr val="E89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15968" y="1435608"/>
            <a:ext cx="3657600" cy="457200"/>
          </a:xfrm>
          <a:prstGeom prst="rect">
            <a:avLst/>
          </a:prstGeom>
          <a:noFill/>
        </p:spPr>
        <p:txBody>
          <a:bodyPr wrap="square" lIns="50800" tIns="25400" rIns="50800" bIns="25400" anchor="ctr">
            <a:spAutoFit/>
          </a:bodyPr>
          <a:lstStyle/>
          <a:p>
            <a:pPr algn="ctr">
              <a:spcBef>
                <a:spcPts val="0"/>
              </a:spcBef>
              <a:spcAft>
                <a:spcPts val="400"/>
              </a:spcAft>
            </a:pPr>
            <a:r>
              <a:rPr sz="1450" b="1" i="0">
                <a:solidFill>
                  <a:srgbClr val="FFFFFF"/>
                </a:solidFill>
                <a:latin typeface="Calibri"/>
              </a:rPr>
              <a:t>These need one more thing</a:t>
            </a:r>
          </a:p>
        </p:txBody>
      </p:sp>
      <p:sp>
        <p:nvSpPr>
          <p:cNvPr id="12" name="Rectangle 11"/>
          <p:cNvSpPr/>
          <p:nvPr/>
        </p:nvSpPr>
        <p:spPr>
          <a:xfrm>
            <a:off x="4315968" y="1920240"/>
            <a:ext cx="3657600" cy="3566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2121408"/>
            <a:ext cx="3291840" cy="3291840"/>
          </a:xfrm>
          <a:prstGeom prst="rect">
            <a:avLst/>
          </a:prstGeom>
          <a:noFill/>
        </p:spPr>
        <p:txBody>
          <a:bodyPr wrap="square" lIns="50800" rIns="50800">
            <a:spAutoFit/>
          </a:bodyPr>
          <a:lstStyle/>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Transfer to a new domain (SA-2) — waiting on a second, SWE-Gym-style domain to test against</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Calibration (SA-3) — waiting on the 100 hand-labelled traces</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Changing-rules stress (SA-6) — needs a task with real policies</a:t>
            </a:r>
          </a:p>
        </p:txBody>
      </p:sp>
      <p:sp>
        <p:nvSpPr>
          <p:cNvPr id="14" name="Rectangle 13"/>
          <p:cNvSpPr/>
          <p:nvPr/>
        </p:nvSpPr>
        <p:spPr>
          <a:xfrm>
            <a:off x="8083296" y="1417320"/>
            <a:ext cx="3657600" cy="502920"/>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83296" y="1435608"/>
            <a:ext cx="3657600" cy="457200"/>
          </a:xfrm>
          <a:prstGeom prst="rect">
            <a:avLst/>
          </a:prstGeom>
          <a:noFill/>
        </p:spPr>
        <p:txBody>
          <a:bodyPr wrap="square" lIns="50800" tIns="25400" rIns="50800" bIns="25400" anchor="ctr">
            <a:spAutoFit/>
          </a:bodyPr>
          <a:lstStyle/>
          <a:p>
            <a:pPr algn="ctr">
              <a:spcBef>
                <a:spcPts val="0"/>
              </a:spcBef>
              <a:spcAft>
                <a:spcPts val="400"/>
              </a:spcAft>
            </a:pPr>
            <a:r>
              <a:rPr sz="1450" b="1" i="0">
                <a:solidFill>
                  <a:srgbClr val="FFFFFF"/>
                </a:solidFill>
                <a:latin typeface="Calibri"/>
              </a:rPr>
              <a:t>Honest future work</a:t>
            </a:r>
          </a:p>
        </p:txBody>
      </p:sp>
      <p:sp>
        <p:nvSpPr>
          <p:cNvPr id="16" name="Rectangle 15"/>
          <p:cNvSpPr/>
          <p:nvPr/>
        </p:nvSpPr>
        <p:spPr>
          <a:xfrm>
            <a:off x="8083296" y="1920240"/>
            <a:ext cx="3657600" cy="35661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66176" y="2121408"/>
            <a:ext cx="3291840" cy="3291840"/>
          </a:xfrm>
          <a:prstGeom prst="rect">
            <a:avLst/>
          </a:prstGeom>
          <a:noFill/>
        </p:spPr>
        <p:txBody>
          <a:bodyPr wrap="square" lIns="50800" rIns="50800">
            <a:spAutoFit/>
          </a:bodyPr>
          <a:lstStyle/>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Large tool ecosystems (MCPVerse)</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Enterprise data workflows (DAComp)</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Policy-heavy standard procedures (JourneyBench)</a:t>
            </a:r>
          </a:p>
          <a:p>
            <a:pPr>
              <a:lnSpc>
                <a:spcPct val="105000"/>
              </a:lnSpc>
              <a:spcBef>
                <a:spcPts val="0"/>
              </a:spcBef>
              <a:spcAft>
                <a:spcPts val="1400"/>
              </a:spcAft>
            </a:pPr>
            <a:r>
              <a:rPr sz="1300" b="1">
                <a:solidFill>
                  <a:srgbClr val="2DAA9E"/>
                </a:solidFill>
                <a:latin typeface="Calibri"/>
              </a:rPr>
              <a:t>▸ </a:t>
            </a:r>
            <a:r>
              <a:rPr sz="1300">
                <a:solidFill>
                  <a:srgbClr val="141B2E"/>
                </a:solidFill>
                <a:latin typeface="Calibri"/>
              </a:rPr>
              <a:t>A full enterprise case study</a:t>
            </a:r>
          </a:p>
        </p:txBody>
      </p:sp>
      <p:sp>
        <p:nvSpPr>
          <p:cNvPr id="18" name="Rectangle 17"/>
          <p:cNvSpPr/>
          <p:nvPr/>
        </p:nvSpPr>
        <p:spPr>
          <a:xfrm>
            <a:off x="548640" y="5669280"/>
            <a:ext cx="11082528" cy="8686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779008"/>
            <a:ext cx="10607040" cy="685800"/>
          </a:xfrm>
          <a:prstGeom prst="rect">
            <a:avLst/>
          </a:prstGeom>
          <a:noFill/>
        </p:spPr>
        <p:txBody>
          <a:bodyPr wrap="square" lIns="50800" tIns="25400" rIns="50800" bIns="25400" anchor="t">
            <a:spAutoFit/>
          </a:bodyPr>
          <a:lstStyle/>
          <a:p>
            <a:pPr algn="l">
              <a:lnSpc>
                <a:spcPct val="106000"/>
              </a:lnSpc>
              <a:spcBef>
                <a:spcPts val="0"/>
              </a:spcBef>
              <a:spcAft>
                <a:spcPts val="400"/>
              </a:spcAft>
            </a:pPr>
            <a:r>
              <a:rPr sz="1350" b="1" i="0">
                <a:solidFill>
                  <a:srgbClr val="2DAA9E"/>
                </a:solidFill>
                <a:latin typeface="Calibri"/>
              </a:rPr>
              <a:t>A note on honesty: </a:t>
            </a:r>
            <a:r>
              <a:rPr sz="1350" b="0" i="0">
                <a:solidFill>
                  <a:srgbClr val="FFFFFF"/>
                </a:solidFill>
                <a:latin typeface="Calibri"/>
              </a:rPr>
              <a:t>every number will be reported as an average with its margin of error, measured under matched conditions, and shown against its cost. And all of this is offline replay of recorded runs — we are not steering a live agent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1946</TotalTime>
  <Words>2016</Words>
  <Application>Microsoft Office PowerPoint</Application>
  <PresentationFormat>Widescreen</PresentationFormat>
  <Paragraphs>214</Paragraphs>
  <Slides>10</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Raghu Vamshi Hemadri</cp:lastModifiedBy>
  <cp:revision>2</cp:revision>
  <dcterms:created xsi:type="dcterms:W3CDTF">2013-01-27T09:14:16Z</dcterms:created>
  <dcterms:modified xsi:type="dcterms:W3CDTF">2026-07-12T01:40:06Z</dcterms:modified>
  <cp:category/>
</cp:coreProperties>
</file>